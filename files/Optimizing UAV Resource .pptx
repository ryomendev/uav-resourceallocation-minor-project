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26274-5295-4A9D-87D4-AEF55155DF94}" type="datetimeFigureOut">
              <a:rPr lang="en-IN" smtClean="0"/>
              <a:t>03-12-2024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62144C-17ED-4101-88E0-91187D81D947}" type="slidenum">
              <a:rPr lang="en-IN" smtClean="0"/>
              <a:t>‹#›</a:t>
            </a:fld>
            <a:endParaRPr lang="en-IN"/>
          </a:p>
        </p:txBody>
      </p:sp>
    </p:spTree>
    <p:extLst>
      <p:ext uri="{BB962C8B-B14F-4D97-AF65-F5344CB8AC3E}">
        <p14:creationId xmlns:p14="http://schemas.microsoft.com/office/powerpoint/2010/main" val="182529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862144C-17ED-4101-88E0-91187D81D947}" type="slidenum">
              <a:rPr lang="en-IN" smtClean="0"/>
              <a:t>1</a:t>
            </a:fld>
            <a:endParaRPr lang="en-IN"/>
          </a:p>
        </p:txBody>
      </p:sp>
    </p:spTree>
    <p:extLst>
      <p:ext uri="{BB962C8B-B14F-4D97-AF65-F5344CB8AC3E}">
        <p14:creationId xmlns:p14="http://schemas.microsoft.com/office/powerpoint/2010/main" val="2375672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B3261-7381-7391-C0E8-D37344EB3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488F3B-B678-4FF8-4A25-66D7A8D091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0E8DCA-91F7-ACEE-2789-9C91D958675C}"/>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5" name="Footer Placeholder 4">
            <a:extLst>
              <a:ext uri="{FF2B5EF4-FFF2-40B4-BE49-F238E27FC236}">
                <a16:creationId xmlns:a16="http://schemas.microsoft.com/office/drawing/2014/main" id="{336BB9D9-AFE5-5803-0CF1-E523EA6C59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15392F-4CA7-6820-82BE-3EA9C932F48C}"/>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1389048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BD62-3E8C-1986-53D6-E8F1D81352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03018F-C0BA-F3C0-F7EF-AD383BE24F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2349D6-4851-EBA4-66F2-FD2F4629895F}"/>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5" name="Footer Placeholder 4">
            <a:extLst>
              <a:ext uri="{FF2B5EF4-FFF2-40B4-BE49-F238E27FC236}">
                <a16:creationId xmlns:a16="http://schemas.microsoft.com/office/drawing/2014/main" id="{3AC0604A-5996-3EF3-5A64-B1057CB918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A3BA0A-4D94-49C2-88FC-A4B9893EFB77}"/>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18603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273F4-E25D-82CF-F262-9E0512DA4F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2A2726-7F85-6C18-755A-3464DF3110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14FF52-BA87-9E23-4028-08AE90501764}"/>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5" name="Footer Placeholder 4">
            <a:extLst>
              <a:ext uri="{FF2B5EF4-FFF2-40B4-BE49-F238E27FC236}">
                <a16:creationId xmlns:a16="http://schemas.microsoft.com/office/drawing/2014/main" id="{384E51F0-6091-927E-73BB-5EC54E69FF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F6711-9ECB-3EA1-FE62-9A74B383D64F}"/>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3598411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A4F2-5A29-E9FC-5E0F-65F8CDF851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EB1D87-09E5-02CC-D781-6B59EE633F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0C7D3F-FE05-F6D3-69CB-9AA6A14BAF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D7EA6C-24B1-CDB3-5BDB-1E594CC43357}"/>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6" name="Footer Placeholder 5">
            <a:extLst>
              <a:ext uri="{FF2B5EF4-FFF2-40B4-BE49-F238E27FC236}">
                <a16:creationId xmlns:a16="http://schemas.microsoft.com/office/drawing/2014/main" id="{F7F7889D-FF77-7C12-932B-7DF9F8CBA8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4DF1FF-D4AE-456B-E5B1-8B15916FFDF6}"/>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1665653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FDBA-5D08-3F19-69F9-E7D0B992E67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1EC32C-1ABA-0816-7900-0223E40F16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C46B5A-888F-4087-5A72-42053FDADB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57D04A-6192-A8A2-DEF8-659E6704CE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C40783-484E-1A39-D722-5AFAA70720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372A72-43D5-0AB2-70F2-D08ED5A22849}"/>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8" name="Footer Placeholder 7">
            <a:extLst>
              <a:ext uri="{FF2B5EF4-FFF2-40B4-BE49-F238E27FC236}">
                <a16:creationId xmlns:a16="http://schemas.microsoft.com/office/drawing/2014/main" id="{33681D1D-23AE-A15F-92B4-6BEB82CF3D6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076AC6-C269-E7E4-68E1-F3A77BED5BFD}"/>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668421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349EB-9190-726F-201C-91912000FD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08E41CC-0E2F-CA5F-DC94-05B142DAFB6E}"/>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4" name="Footer Placeholder 3">
            <a:extLst>
              <a:ext uri="{FF2B5EF4-FFF2-40B4-BE49-F238E27FC236}">
                <a16:creationId xmlns:a16="http://schemas.microsoft.com/office/drawing/2014/main" id="{229FB550-3C71-8C38-5E0F-3FD30CAF601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1B1C1D-7584-F3DF-7FFC-D38387CCA68C}"/>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2453646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5FF2E2-0D64-F907-268B-5C04974728D7}"/>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3" name="Footer Placeholder 2">
            <a:extLst>
              <a:ext uri="{FF2B5EF4-FFF2-40B4-BE49-F238E27FC236}">
                <a16:creationId xmlns:a16="http://schemas.microsoft.com/office/drawing/2014/main" id="{1CEAB275-DFF1-CABB-3EE3-7C9A5721F2A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98E840-AF72-9A6C-3B95-A9FDE8B23992}"/>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677782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09582-7B6E-ED1D-6193-0ACA6087BE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CA6F4B-3A2A-50CF-1F3C-26E4204709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1F666C-2C48-C938-1504-2BB107782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FB9727-10E6-64DC-381F-79BADA01F2CD}"/>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6" name="Footer Placeholder 5">
            <a:extLst>
              <a:ext uri="{FF2B5EF4-FFF2-40B4-BE49-F238E27FC236}">
                <a16:creationId xmlns:a16="http://schemas.microsoft.com/office/drawing/2014/main" id="{D49C44B5-6BE2-3ADC-881D-AC205964B6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21AEB7-8715-FD84-2A73-E36C4C2A50BA}"/>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1441327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B98A3-7F10-BE0C-38B4-496056D5ED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2CF00C-9324-B225-5021-21F65CAFD7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A60F0B-BC04-9F70-2F4A-A72799A6E4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36F607-3478-92FB-2BDE-B38DC78871B9}"/>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6" name="Footer Placeholder 5">
            <a:extLst>
              <a:ext uri="{FF2B5EF4-FFF2-40B4-BE49-F238E27FC236}">
                <a16:creationId xmlns:a16="http://schemas.microsoft.com/office/drawing/2014/main" id="{826D0F6A-0325-EA09-9AF9-EFA1B3C9BA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6E1C5B-D7E8-6ABF-EC1A-12DFCDA9C34D}"/>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305623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23A5E-6DF8-E41F-3CF1-C8BE8B21A5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D00441-DB4B-1355-3C4C-A8D94F906C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796D74-C9FF-F771-5062-C906B4361F6D}"/>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5" name="Footer Placeholder 4">
            <a:extLst>
              <a:ext uri="{FF2B5EF4-FFF2-40B4-BE49-F238E27FC236}">
                <a16:creationId xmlns:a16="http://schemas.microsoft.com/office/drawing/2014/main" id="{3294BCE5-957D-7B38-0235-69A43B6A8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9D9AF5-931C-6F8A-2163-6CDD57EA3E96}"/>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4245472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655D84-2CE6-043C-BC06-1F744656B6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9401B6-7AC1-3055-F92D-99795035EB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02DE4A-ED64-40AA-85FF-E8E5C503B063}"/>
              </a:ext>
            </a:extLst>
          </p:cNvPr>
          <p:cNvSpPr>
            <a:spLocks noGrp="1"/>
          </p:cNvSpPr>
          <p:nvPr>
            <p:ph type="dt" sz="half" idx="10"/>
          </p:nvPr>
        </p:nvSpPr>
        <p:spPr/>
        <p:txBody>
          <a:bodyPr/>
          <a:lstStyle/>
          <a:p>
            <a:fld id="{E6DD5176-48DB-443C-A445-BE62C209364B}" type="datetimeFigureOut">
              <a:rPr lang="en-IN" smtClean="0"/>
              <a:t>03-12-2024</a:t>
            </a:fld>
            <a:endParaRPr lang="en-IN"/>
          </a:p>
        </p:txBody>
      </p:sp>
      <p:sp>
        <p:nvSpPr>
          <p:cNvPr id="5" name="Footer Placeholder 4">
            <a:extLst>
              <a:ext uri="{FF2B5EF4-FFF2-40B4-BE49-F238E27FC236}">
                <a16:creationId xmlns:a16="http://schemas.microsoft.com/office/drawing/2014/main" id="{1DE43F1B-B941-11F2-6E6C-403AB69463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A8B621-429B-EA28-D2E2-4B4D1C76FB99}"/>
              </a:ext>
            </a:extLst>
          </p:cNvPr>
          <p:cNvSpPr>
            <a:spLocks noGrp="1"/>
          </p:cNvSpPr>
          <p:nvPr>
            <p:ph type="sldNum" sz="quarter" idx="12"/>
          </p:nvPr>
        </p:nvSpPr>
        <p:spPr/>
        <p:txBody>
          <a:bodyPr/>
          <a:lstStyle/>
          <a:p>
            <a:fld id="{7D66DC04-C9CB-4A96-B62A-130993D74A39}" type="slidenum">
              <a:rPr lang="en-IN" smtClean="0"/>
              <a:t>‹#›</a:t>
            </a:fld>
            <a:endParaRPr lang="en-IN"/>
          </a:p>
        </p:txBody>
      </p:sp>
    </p:spTree>
    <p:extLst>
      <p:ext uri="{BB962C8B-B14F-4D97-AF65-F5344CB8AC3E}">
        <p14:creationId xmlns:p14="http://schemas.microsoft.com/office/powerpoint/2010/main" val="3427019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A7CFF1-DDF5-2989-3FD2-A375996355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15BC16-A238-F3B8-8452-A676677D12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4EE967-527E-9E23-6CC7-5FCCE14437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DD5176-48DB-443C-A445-BE62C209364B}" type="datetimeFigureOut">
              <a:rPr lang="en-IN" smtClean="0"/>
              <a:t>03-12-2024</a:t>
            </a:fld>
            <a:endParaRPr lang="en-IN"/>
          </a:p>
        </p:txBody>
      </p:sp>
      <p:sp>
        <p:nvSpPr>
          <p:cNvPr id="5" name="Footer Placeholder 4">
            <a:extLst>
              <a:ext uri="{FF2B5EF4-FFF2-40B4-BE49-F238E27FC236}">
                <a16:creationId xmlns:a16="http://schemas.microsoft.com/office/drawing/2014/main" id="{2DE4CCDE-F383-B5B8-31C9-327D1F808F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8CB604-B586-AEA4-E867-6CE0BED8A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66DC04-C9CB-4A96-B62A-130993D74A39}" type="slidenum">
              <a:rPr lang="en-IN" smtClean="0"/>
              <a:t>‹#›</a:t>
            </a:fld>
            <a:endParaRPr lang="en-IN"/>
          </a:p>
        </p:txBody>
      </p:sp>
    </p:spTree>
    <p:extLst>
      <p:ext uri="{BB962C8B-B14F-4D97-AF65-F5344CB8AC3E}">
        <p14:creationId xmlns:p14="http://schemas.microsoft.com/office/powerpoint/2010/main" val="3464165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A1B79-8ED3-F1E8-77C5-D96A2F26DCE5}"/>
              </a:ext>
            </a:extLst>
          </p:cNvPr>
          <p:cNvSpPr>
            <a:spLocks noGrp="1"/>
          </p:cNvSpPr>
          <p:nvPr>
            <p:ph type="ctrTitle"/>
          </p:nvPr>
        </p:nvSpPr>
        <p:spPr>
          <a:xfrm>
            <a:off x="267855" y="535710"/>
            <a:ext cx="9144000" cy="1914236"/>
          </a:xfrm>
        </p:spPr>
        <p:txBody>
          <a:bodyPr>
            <a:normAutofit/>
          </a:bodyPr>
          <a:lstStyle/>
          <a:p>
            <a:pPr algn="l"/>
            <a:r>
              <a:rPr lang="en-US" sz="4900" b="1" dirty="0"/>
              <a:t>Optimizing UAV Resource Allocation for Outpost Deliveries:</a:t>
            </a:r>
            <a:br>
              <a:rPr lang="en-US" sz="3200" b="1" dirty="0"/>
            </a:br>
            <a:r>
              <a:rPr lang="en-US" sz="2200" b="1" dirty="0"/>
              <a:t>Strategies for Adaptive Prioritization and Modular Route Optimization</a:t>
            </a:r>
            <a:endParaRPr lang="en-IN" sz="2200" b="1" dirty="0"/>
          </a:p>
        </p:txBody>
      </p:sp>
      <p:sp>
        <p:nvSpPr>
          <p:cNvPr id="3" name="Subtitle 2">
            <a:extLst>
              <a:ext uri="{FF2B5EF4-FFF2-40B4-BE49-F238E27FC236}">
                <a16:creationId xmlns:a16="http://schemas.microsoft.com/office/drawing/2014/main" id="{0F9761B0-F748-B175-8A74-349D5D762590}"/>
              </a:ext>
            </a:extLst>
          </p:cNvPr>
          <p:cNvSpPr>
            <a:spLocks noGrp="1"/>
          </p:cNvSpPr>
          <p:nvPr>
            <p:ph type="subTitle" idx="1"/>
          </p:nvPr>
        </p:nvSpPr>
        <p:spPr>
          <a:xfrm>
            <a:off x="6096000" y="4408055"/>
            <a:ext cx="4886036" cy="1655762"/>
          </a:xfrm>
        </p:spPr>
        <p:txBody>
          <a:bodyPr/>
          <a:lstStyle/>
          <a:p>
            <a:pPr algn="l"/>
            <a:r>
              <a:rPr lang="en-IN" dirty="0"/>
              <a:t>Akash Mishra (2021UG1045)</a:t>
            </a:r>
          </a:p>
          <a:p>
            <a:pPr algn="l"/>
            <a:r>
              <a:rPr lang="en-IN" dirty="0"/>
              <a:t>Biranjay Kumar Gupta (2021UG1045)</a:t>
            </a:r>
          </a:p>
          <a:p>
            <a:pPr algn="l"/>
            <a:r>
              <a:rPr lang="en-IN" dirty="0"/>
              <a:t>Sunny Kumar (2021UG1047)</a:t>
            </a:r>
          </a:p>
        </p:txBody>
      </p:sp>
      <p:sp>
        <p:nvSpPr>
          <p:cNvPr id="4" name="TextBox 3">
            <a:extLst>
              <a:ext uri="{FF2B5EF4-FFF2-40B4-BE49-F238E27FC236}">
                <a16:creationId xmlns:a16="http://schemas.microsoft.com/office/drawing/2014/main" id="{80EE7864-DC81-9EFB-74B7-11D2D9833D4F}"/>
              </a:ext>
            </a:extLst>
          </p:cNvPr>
          <p:cNvSpPr txBox="1"/>
          <p:nvPr/>
        </p:nvSpPr>
        <p:spPr>
          <a:xfrm>
            <a:off x="6096000" y="3826164"/>
            <a:ext cx="3214255" cy="461665"/>
          </a:xfrm>
          <a:prstGeom prst="rect">
            <a:avLst/>
          </a:prstGeom>
          <a:noFill/>
        </p:spPr>
        <p:txBody>
          <a:bodyPr wrap="square" rtlCol="0">
            <a:spAutoFit/>
          </a:bodyPr>
          <a:lstStyle/>
          <a:p>
            <a:r>
              <a:rPr lang="en-IN" sz="2400" b="1" dirty="0"/>
              <a:t>Presented By:</a:t>
            </a:r>
          </a:p>
        </p:txBody>
      </p:sp>
      <p:sp>
        <p:nvSpPr>
          <p:cNvPr id="5" name="TextBox 4">
            <a:extLst>
              <a:ext uri="{FF2B5EF4-FFF2-40B4-BE49-F238E27FC236}">
                <a16:creationId xmlns:a16="http://schemas.microsoft.com/office/drawing/2014/main" id="{1E880CA2-A5A1-C73A-8F2B-AAFDB309D77E}"/>
              </a:ext>
            </a:extLst>
          </p:cNvPr>
          <p:cNvSpPr txBox="1"/>
          <p:nvPr/>
        </p:nvSpPr>
        <p:spPr>
          <a:xfrm>
            <a:off x="6096000" y="5952958"/>
            <a:ext cx="4221018" cy="738664"/>
          </a:xfrm>
          <a:prstGeom prst="rect">
            <a:avLst/>
          </a:prstGeom>
          <a:noFill/>
        </p:spPr>
        <p:txBody>
          <a:bodyPr wrap="square" rtlCol="0">
            <a:spAutoFit/>
          </a:bodyPr>
          <a:lstStyle/>
          <a:p>
            <a:pPr algn="l"/>
            <a:endParaRPr lang="en-IN" sz="1800" b="0" i="0" u="none" strike="noStrike" baseline="0" dirty="0">
              <a:solidFill>
                <a:srgbClr val="000000"/>
              </a:solidFill>
              <a:latin typeface="Bodoni MT" panose="02070603080606020203" pitchFamily="18" charset="0"/>
            </a:endParaRPr>
          </a:p>
          <a:p>
            <a:r>
              <a:rPr lang="en-US" sz="1800" b="0" i="0" u="none" strike="noStrike" baseline="0" dirty="0">
                <a:solidFill>
                  <a:srgbClr val="000000"/>
                </a:solidFill>
                <a:latin typeface="Bodoni MT" panose="02070603080606020203" pitchFamily="18" charset="0"/>
              </a:rPr>
              <a:t> </a:t>
            </a:r>
            <a:r>
              <a:rPr lang="en-US" sz="2400" b="1" dirty="0"/>
              <a:t>Submitted to: </a:t>
            </a:r>
            <a:r>
              <a:rPr lang="en-US" sz="2400" dirty="0"/>
              <a:t>Dr. Tarun Biswas</a:t>
            </a:r>
            <a:endParaRPr lang="en-IN" sz="2400" dirty="0"/>
          </a:p>
        </p:txBody>
      </p:sp>
    </p:spTree>
    <p:extLst>
      <p:ext uri="{BB962C8B-B14F-4D97-AF65-F5344CB8AC3E}">
        <p14:creationId xmlns:p14="http://schemas.microsoft.com/office/powerpoint/2010/main" val="3614782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CAD8F-9FD8-0515-6A66-2B38EF91A3B9}"/>
              </a:ext>
            </a:extLst>
          </p:cNvPr>
          <p:cNvSpPr>
            <a:spLocks noGrp="1"/>
          </p:cNvSpPr>
          <p:nvPr>
            <p:ph type="title"/>
          </p:nvPr>
        </p:nvSpPr>
        <p:spPr>
          <a:xfrm>
            <a:off x="838200" y="365126"/>
            <a:ext cx="10515600" cy="881784"/>
          </a:xfrm>
        </p:spPr>
        <p:txBody>
          <a:bodyPr>
            <a:normAutofit/>
          </a:bodyPr>
          <a:lstStyle/>
          <a:p>
            <a:r>
              <a:rPr lang="en-US" sz="2800" b="1" dirty="0">
                <a:latin typeface="+mn-lt"/>
                <a:ea typeface="+mn-ea"/>
                <a:cs typeface="+mn-cs"/>
              </a:rPr>
              <a:t>Introduction to UAV Resource Allocation: </a:t>
            </a:r>
            <a:endParaRPr lang="en-IN" sz="2800" b="1" dirty="0">
              <a:latin typeface="+mn-lt"/>
              <a:ea typeface="+mn-ea"/>
              <a:cs typeface="+mn-cs"/>
            </a:endParaRPr>
          </a:p>
        </p:txBody>
      </p:sp>
      <p:sp>
        <p:nvSpPr>
          <p:cNvPr id="3" name="Content Placeholder 2">
            <a:extLst>
              <a:ext uri="{FF2B5EF4-FFF2-40B4-BE49-F238E27FC236}">
                <a16:creationId xmlns:a16="http://schemas.microsoft.com/office/drawing/2014/main" id="{409AA9AC-AB22-90EA-4A7E-D01FAB70B8E1}"/>
              </a:ext>
            </a:extLst>
          </p:cNvPr>
          <p:cNvSpPr>
            <a:spLocks noGrp="1"/>
          </p:cNvSpPr>
          <p:nvPr>
            <p:ph idx="1"/>
          </p:nvPr>
        </p:nvSpPr>
        <p:spPr>
          <a:xfrm>
            <a:off x="838200" y="1049771"/>
            <a:ext cx="10515600" cy="1517939"/>
          </a:xfrm>
        </p:spPr>
        <p:txBody>
          <a:bodyPr/>
          <a:lstStyle/>
          <a:p>
            <a:pPr marL="0" indent="0">
              <a:buNone/>
            </a:pPr>
            <a:r>
              <a:rPr lang="en-US" sz="2400" dirty="0"/>
              <a:t>In today’s rapidly evolving landscape, Unmanned Aerial Vehicles (UAVs) are becoming vital  for various applications. This presentation explores strategies for optimizing resource  allocation through dynamic prioritization and modular route management, enhancing  efficiency and effectiveness in UAV operations.</a:t>
            </a:r>
          </a:p>
        </p:txBody>
      </p:sp>
      <p:pic>
        <p:nvPicPr>
          <p:cNvPr id="4" name="Picture 3">
            <a:extLst>
              <a:ext uri="{FF2B5EF4-FFF2-40B4-BE49-F238E27FC236}">
                <a16:creationId xmlns:a16="http://schemas.microsoft.com/office/drawing/2014/main" id="{B397465E-8F82-349C-4AB9-52A2231C4C71}"/>
              </a:ext>
            </a:extLst>
          </p:cNvPr>
          <p:cNvPicPr>
            <a:picLocks noChangeAspect="1"/>
          </p:cNvPicPr>
          <p:nvPr/>
        </p:nvPicPr>
        <p:blipFill>
          <a:blip r:embed="rId2"/>
          <a:stretch>
            <a:fillRect/>
          </a:stretch>
        </p:blipFill>
        <p:spPr>
          <a:xfrm>
            <a:off x="1466661" y="2864272"/>
            <a:ext cx="3190792" cy="3650540"/>
          </a:xfrm>
          <a:prstGeom prst="rect">
            <a:avLst/>
          </a:prstGeom>
        </p:spPr>
      </p:pic>
      <p:pic>
        <p:nvPicPr>
          <p:cNvPr id="6" name="Picture 5">
            <a:extLst>
              <a:ext uri="{FF2B5EF4-FFF2-40B4-BE49-F238E27FC236}">
                <a16:creationId xmlns:a16="http://schemas.microsoft.com/office/drawing/2014/main" id="{09476D0D-A9F1-F09F-B4E0-BB268EB0E29B}"/>
              </a:ext>
            </a:extLst>
          </p:cNvPr>
          <p:cNvPicPr>
            <a:picLocks noChangeAspect="1"/>
          </p:cNvPicPr>
          <p:nvPr/>
        </p:nvPicPr>
        <p:blipFill>
          <a:blip r:embed="rId3"/>
          <a:stretch>
            <a:fillRect/>
          </a:stretch>
        </p:blipFill>
        <p:spPr>
          <a:xfrm>
            <a:off x="4845772" y="2864272"/>
            <a:ext cx="2977428" cy="3689569"/>
          </a:xfrm>
          <a:prstGeom prst="rect">
            <a:avLst/>
          </a:prstGeom>
        </p:spPr>
      </p:pic>
      <p:pic>
        <p:nvPicPr>
          <p:cNvPr id="8" name="Picture 7">
            <a:extLst>
              <a:ext uri="{FF2B5EF4-FFF2-40B4-BE49-F238E27FC236}">
                <a16:creationId xmlns:a16="http://schemas.microsoft.com/office/drawing/2014/main" id="{4A3C5C5A-8748-4C33-EFBC-658738966C3A}"/>
              </a:ext>
            </a:extLst>
          </p:cNvPr>
          <p:cNvPicPr>
            <a:picLocks noChangeAspect="1"/>
          </p:cNvPicPr>
          <p:nvPr/>
        </p:nvPicPr>
        <p:blipFill>
          <a:blip r:embed="rId4"/>
          <a:stretch>
            <a:fillRect/>
          </a:stretch>
        </p:blipFill>
        <p:spPr>
          <a:xfrm>
            <a:off x="8011519" y="2567710"/>
            <a:ext cx="3342281" cy="3974904"/>
          </a:xfrm>
          <a:prstGeom prst="rect">
            <a:avLst/>
          </a:prstGeom>
        </p:spPr>
      </p:pic>
    </p:spTree>
    <p:extLst>
      <p:ext uri="{BB962C8B-B14F-4D97-AF65-F5344CB8AC3E}">
        <p14:creationId xmlns:p14="http://schemas.microsoft.com/office/powerpoint/2010/main" val="2573474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A932E0-4860-4B59-D513-AD162837A779}"/>
              </a:ext>
            </a:extLst>
          </p:cNvPr>
          <p:cNvSpPr txBox="1"/>
          <p:nvPr/>
        </p:nvSpPr>
        <p:spPr>
          <a:xfrm>
            <a:off x="1006764" y="1404555"/>
            <a:ext cx="10030691" cy="646331"/>
          </a:xfrm>
          <a:prstGeom prst="rect">
            <a:avLst/>
          </a:prstGeom>
          <a:noFill/>
        </p:spPr>
        <p:txBody>
          <a:bodyPr wrap="square" rtlCol="0">
            <a:spAutoFit/>
          </a:bodyPr>
          <a:lstStyle/>
          <a:p>
            <a:r>
              <a:rPr lang="en-US" dirty="0"/>
              <a:t>The topic "Optimizing UAV Resource Allocation for Outpost Deliveries" focuses on the efficient use of Unmanned Aerial Vehicles (UAVs) to fulfill delivery tasks for remote outposts. It involves:</a:t>
            </a:r>
            <a:endParaRPr lang="en-IN" dirty="0"/>
          </a:p>
        </p:txBody>
      </p:sp>
      <p:sp>
        <p:nvSpPr>
          <p:cNvPr id="3" name="TextBox 2">
            <a:extLst>
              <a:ext uri="{FF2B5EF4-FFF2-40B4-BE49-F238E27FC236}">
                <a16:creationId xmlns:a16="http://schemas.microsoft.com/office/drawing/2014/main" id="{E94D4E16-3E96-0D0C-1C49-CE8EF74DD145}"/>
              </a:ext>
            </a:extLst>
          </p:cNvPr>
          <p:cNvSpPr txBox="1"/>
          <p:nvPr/>
        </p:nvSpPr>
        <p:spPr>
          <a:xfrm>
            <a:off x="942109" y="2176087"/>
            <a:ext cx="9966036" cy="3139321"/>
          </a:xfrm>
          <a:prstGeom prst="rect">
            <a:avLst/>
          </a:prstGeom>
          <a:noFill/>
        </p:spPr>
        <p:txBody>
          <a:bodyPr wrap="square" rtlCol="0">
            <a:spAutoFit/>
          </a:bodyPr>
          <a:lstStyle/>
          <a:p>
            <a:pPr marL="285750" indent="-285750">
              <a:buFont typeface="Arial" panose="020B0604020202020204" pitchFamily="34" charset="0"/>
              <a:buChar char="•"/>
            </a:pPr>
            <a:r>
              <a:rPr lang="en-US" dirty="0"/>
              <a:t>Resource Management: Allocating UAVs based on their capacity, speed, and maximum range to meet the demands of outposts.</a:t>
            </a:r>
          </a:p>
          <a:p>
            <a:endParaRPr lang="en-US" dirty="0"/>
          </a:p>
          <a:p>
            <a:pPr marL="285750" indent="-285750">
              <a:buFont typeface="Arial" panose="020B0604020202020204" pitchFamily="34" charset="0"/>
              <a:buChar char="•"/>
            </a:pPr>
            <a:r>
              <a:rPr lang="en-US" dirty="0"/>
              <a:t>Task Scheduling: Prioritizing outposts with tighter deadlines and ensuring deliveries are made within specified time limits.</a:t>
            </a:r>
          </a:p>
          <a:p>
            <a:endParaRPr lang="en-US" dirty="0"/>
          </a:p>
          <a:p>
            <a:pPr marL="285750" indent="-285750">
              <a:buFont typeface="Arial" panose="020B0604020202020204" pitchFamily="34" charset="0"/>
              <a:buChar char="•"/>
            </a:pPr>
            <a:r>
              <a:rPr lang="en-US" dirty="0"/>
              <a:t>Efficiency Optimization: Minimizing   consumption, travel time, and maximizing UAV utilization while ensuring the needs of outposts are met.</a:t>
            </a:r>
          </a:p>
          <a:p>
            <a:endParaRPr lang="en-US" dirty="0"/>
          </a:p>
          <a:p>
            <a:pPr marL="285750" indent="-285750">
              <a:buFont typeface="Arial" panose="020B0604020202020204" pitchFamily="34" charset="0"/>
              <a:buChar char="•"/>
            </a:pPr>
            <a:r>
              <a:rPr lang="en-US" dirty="0"/>
              <a:t>Dynamic Decision-Making: Adjusting UAV assignments based on real-time conditions such as current UAV availability, remaining capacity, and distance to outposts.</a:t>
            </a:r>
            <a:endParaRPr lang="en-IN" dirty="0"/>
          </a:p>
        </p:txBody>
      </p:sp>
      <p:sp>
        <p:nvSpPr>
          <p:cNvPr id="4" name="TextBox 3">
            <a:extLst>
              <a:ext uri="{FF2B5EF4-FFF2-40B4-BE49-F238E27FC236}">
                <a16:creationId xmlns:a16="http://schemas.microsoft.com/office/drawing/2014/main" id="{2F15ECFA-2552-BFCB-D4C8-E3271CD1B03F}"/>
              </a:ext>
            </a:extLst>
          </p:cNvPr>
          <p:cNvSpPr txBox="1"/>
          <p:nvPr/>
        </p:nvSpPr>
        <p:spPr>
          <a:xfrm>
            <a:off x="1006764" y="5130279"/>
            <a:ext cx="10030691" cy="646331"/>
          </a:xfrm>
          <a:prstGeom prst="rect">
            <a:avLst/>
          </a:prstGeom>
          <a:noFill/>
        </p:spPr>
        <p:txBody>
          <a:bodyPr wrap="square" rtlCol="0">
            <a:spAutoFit/>
          </a:bodyPr>
          <a:lstStyle/>
          <a:p>
            <a:r>
              <a:rPr lang="en-US" dirty="0"/>
              <a:t>This concept is highly relevant in logistics, disaster relief, military operations, and other fields where UAVs play a critical role in delivering essential supplies to remote or inaccessible locations.</a:t>
            </a:r>
          </a:p>
        </p:txBody>
      </p:sp>
      <p:sp>
        <p:nvSpPr>
          <p:cNvPr id="5" name="TextBox 4">
            <a:extLst>
              <a:ext uri="{FF2B5EF4-FFF2-40B4-BE49-F238E27FC236}">
                <a16:creationId xmlns:a16="http://schemas.microsoft.com/office/drawing/2014/main" id="{5DD207ED-91FD-4896-852B-6F39AB323D86}"/>
              </a:ext>
            </a:extLst>
          </p:cNvPr>
          <p:cNvSpPr txBox="1"/>
          <p:nvPr/>
        </p:nvSpPr>
        <p:spPr>
          <a:xfrm>
            <a:off x="1006764" y="221938"/>
            <a:ext cx="6604000" cy="954107"/>
          </a:xfrm>
          <a:prstGeom prst="rect">
            <a:avLst/>
          </a:prstGeom>
          <a:noFill/>
        </p:spPr>
        <p:txBody>
          <a:bodyPr wrap="square" rtlCol="0">
            <a:spAutoFit/>
          </a:bodyPr>
          <a:lstStyle/>
          <a:p>
            <a:r>
              <a:rPr lang="en-IN" sz="2800" b="1" dirty="0"/>
              <a:t>Optimizing UAV Fleet Operations for Efficient Outpost Deliveries:</a:t>
            </a:r>
          </a:p>
        </p:txBody>
      </p:sp>
    </p:spTree>
    <p:extLst>
      <p:ext uri="{BB962C8B-B14F-4D97-AF65-F5344CB8AC3E}">
        <p14:creationId xmlns:p14="http://schemas.microsoft.com/office/powerpoint/2010/main" val="3216393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A4CB83-E982-CCD7-DD5C-2F544A363521}"/>
              </a:ext>
            </a:extLst>
          </p:cNvPr>
          <p:cNvSpPr txBox="1"/>
          <p:nvPr/>
        </p:nvSpPr>
        <p:spPr>
          <a:xfrm>
            <a:off x="1422400" y="279862"/>
            <a:ext cx="5126182" cy="954107"/>
          </a:xfrm>
          <a:prstGeom prst="rect">
            <a:avLst/>
          </a:prstGeom>
          <a:noFill/>
        </p:spPr>
        <p:txBody>
          <a:bodyPr wrap="square" rtlCol="0">
            <a:spAutoFit/>
          </a:bodyPr>
          <a:lstStyle/>
          <a:p>
            <a:r>
              <a:rPr lang="en-US" sz="2800" b="1" dirty="0"/>
              <a:t>Motivation Behind UAV-Based Delivery Optimization: </a:t>
            </a:r>
            <a:endParaRPr lang="en-IN" sz="2800" b="1" dirty="0"/>
          </a:p>
        </p:txBody>
      </p:sp>
      <p:pic>
        <p:nvPicPr>
          <p:cNvPr id="4" name="Picture 3">
            <a:extLst>
              <a:ext uri="{FF2B5EF4-FFF2-40B4-BE49-F238E27FC236}">
                <a16:creationId xmlns:a16="http://schemas.microsoft.com/office/drawing/2014/main" id="{5E6BDBC4-A056-F31F-BDA0-2C4C8BF16222}"/>
              </a:ext>
            </a:extLst>
          </p:cNvPr>
          <p:cNvPicPr>
            <a:picLocks noChangeAspect="1"/>
          </p:cNvPicPr>
          <p:nvPr/>
        </p:nvPicPr>
        <p:blipFill>
          <a:blip r:embed="rId2"/>
          <a:stretch>
            <a:fillRect/>
          </a:stretch>
        </p:blipFill>
        <p:spPr>
          <a:xfrm>
            <a:off x="7821862" y="923514"/>
            <a:ext cx="4041986" cy="5706332"/>
          </a:xfrm>
          <a:prstGeom prst="rect">
            <a:avLst/>
          </a:prstGeom>
        </p:spPr>
      </p:pic>
      <p:sp>
        <p:nvSpPr>
          <p:cNvPr id="5" name="TextBox 4">
            <a:extLst>
              <a:ext uri="{FF2B5EF4-FFF2-40B4-BE49-F238E27FC236}">
                <a16:creationId xmlns:a16="http://schemas.microsoft.com/office/drawing/2014/main" id="{0BFCB6DB-4002-FAC3-7B42-38AD05A614F4}"/>
              </a:ext>
            </a:extLst>
          </p:cNvPr>
          <p:cNvSpPr txBox="1"/>
          <p:nvPr/>
        </p:nvSpPr>
        <p:spPr>
          <a:xfrm>
            <a:off x="1422400" y="1394691"/>
            <a:ext cx="6206836" cy="4524315"/>
          </a:xfrm>
          <a:prstGeom prst="rect">
            <a:avLst/>
          </a:prstGeom>
          <a:noFill/>
        </p:spPr>
        <p:txBody>
          <a:bodyPr wrap="square" rtlCol="0">
            <a:spAutoFit/>
          </a:bodyPr>
          <a:lstStyle/>
          <a:p>
            <a:r>
              <a:rPr lang="en-US" dirty="0"/>
              <a:t>The motivation behind this system is to enhance the efficiency and effectiveness of UAV (Unmanned Aerial Vehicle) operations for delivery tasks, especially in challenging environments like remote outposts. By automating the allocation of UAVs to outposts based on their capabilities, available resources, and urgency of deliveries, the system aims to:</a:t>
            </a:r>
          </a:p>
          <a:p>
            <a:endParaRPr lang="en-US" dirty="0"/>
          </a:p>
          <a:p>
            <a:r>
              <a:rPr lang="en-US" b="1" dirty="0"/>
              <a:t>Optimize Resource Utilization</a:t>
            </a:r>
            <a:r>
              <a:rPr lang="en-US" dirty="0"/>
              <a:t>: Maximize the use of UAVs, ensuring that each vehicle is assigned to tasks based on its capacity, speed, and   constraints, leading to more efficient deliveries.</a:t>
            </a:r>
          </a:p>
          <a:p>
            <a:endParaRPr lang="en-US" dirty="0"/>
          </a:p>
          <a:p>
            <a:r>
              <a:rPr lang="en-US" b="1" dirty="0"/>
              <a:t>Minimize Delays</a:t>
            </a:r>
            <a:r>
              <a:rPr lang="en-US" dirty="0"/>
              <a:t>: By prioritizing outposts with earlier deadlines and calculating the required travel time, the system ensures that deliveries are made on time, reducing potential delays and disruptions in supply chains.</a:t>
            </a:r>
            <a:endParaRPr lang="en-IN" dirty="0"/>
          </a:p>
        </p:txBody>
      </p:sp>
    </p:spTree>
    <p:extLst>
      <p:ext uri="{BB962C8B-B14F-4D97-AF65-F5344CB8AC3E}">
        <p14:creationId xmlns:p14="http://schemas.microsoft.com/office/powerpoint/2010/main" val="4212281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66E344-1D17-A814-0FB4-9DB7117D8240}"/>
              </a:ext>
            </a:extLst>
          </p:cNvPr>
          <p:cNvPicPr>
            <a:picLocks noChangeAspect="1"/>
          </p:cNvPicPr>
          <p:nvPr/>
        </p:nvPicPr>
        <p:blipFill>
          <a:blip r:embed="rId2"/>
          <a:stretch>
            <a:fillRect/>
          </a:stretch>
        </p:blipFill>
        <p:spPr>
          <a:xfrm>
            <a:off x="6834909" y="397102"/>
            <a:ext cx="5264728" cy="3953225"/>
          </a:xfrm>
          <a:prstGeom prst="rect">
            <a:avLst/>
          </a:prstGeom>
        </p:spPr>
      </p:pic>
      <p:sp>
        <p:nvSpPr>
          <p:cNvPr id="5" name="TextBox 4">
            <a:extLst>
              <a:ext uri="{FF2B5EF4-FFF2-40B4-BE49-F238E27FC236}">
                <a16:creationId xmlns:a16="http://schemas.microsoft.com/office/drawing/2014/main" id="{062DF7FC-53C0-4C14-05B9-EBDA399B618C}"/>
              </a:ext>
            </a:extLst>
          </p:cNvPr>
          <p:cNvSpPr txBox="1"/>
          <p:nvPr/>
        </p:nvSpPr>
        <p:spPr>
          <a:xfrm>
            <a:off x="378691" y="480291"/>
            <a:ext cx="6271491" cy="5355312"/>
          </a:xfrm>
          <a:prstGeom prst="rect">
            <a:avLst/>
          </a:prstGeom>
          <a:noFill/>
        </p:spPr>
        <p:txBody>
          <a:bodyPr wrap="square" rtlCol="0">
            <a:spAutoFit/>
          </a:bodyPr>
          <a:lstStyle/>
          <a:p>
            <a:r>
              <a:rPr lang="en-US" b="1" dirty="0"/>
              <a:t>Cost Efficiency</a:t>
            </a:r>
            <a:r>
              <a:rPr lang="en-US" dirty="0"/>
              <a:t>: By dynamically managing UAVs, the system helps in reducing operational costs associated with   consumption and unnecessary trips, thus improving the overall cost-effectiveness of UAV-based logistics.</a:t>
            </a:r>
          </a:p>
          <a:p>
            <a:endParaRPr lang="en-US" dirty="0"/>
          </a:p>
          <a:p>
            <a:r>
              <a:rPr lang="en-US" b="1" dirty="0"/>
              <a:t>Scalability</a:t>
            </a:r>
            <a:r>
              <a:rPr lang="en-US" dirty="0"/>
              <a:t>: As the number of UAVs and outposts grows, this system can scale to handle the increased complexity, ensuring that more deliveries can be managed without overwhelming the resources available.</a:t>
            </a:r>
          </a:p>
          <a:p>
            <a:endParaRPr lang="en-US" dirty="0"/>
          </a:p>
          <a:p>
            <a:r>
              <a:rPr lang="en-US" b="1" dirty="0"/>
              <a:t>Automation</a:t>
            </a:r>
            <a:r>
              <a:rPr lang="en-US" dirty="0"/>
              <a:t>: It reduces the manual effort required to assign UAVs to outposts, allowing for real-time decision-making and more responsive logistics management, especially in time-sensitive situations.</a:t>
            </a:r>
          </a:p>
          <a:p>
            <a:endParaRPr lang="en-US" dirty="0"/>
          </a:p>
          <a:p>
            <a:r>
              <a:rPr lang="en-US" dirty="0"/>
              <a:t>This system is crucial for industries relying on rapid delivery of goods to remote or hard-to-reach locations, where traditional logistics might be impractical or inefficient</a:t>
            </a:r>
            <a:endParaRPr lang="en-IN" dirty="0"/>
          </a:p>
          <a:p>
            <a:endParaRPr lang="en-IN" dirty="0"/>
          </a:p>
        </p:txBody>
      </p:sp>
    </p:spTree>
    <p:extLst>
      <p:ext uri="{BB962C8B-B14F-4D97-AF65-F5344CB8AC3E}">
        <p14:creationId xmlns:p14="http://schemas.microsoft.com/office/powerpoint/2010/main" val="1129307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B0D5F7-0BC1-9F74-DD2D-727EE65941DC}"/>
              </a:ext>
            </a:extLst>
          </p:cNvPr>
          <p:cNvSpPr txBox="1"/>
          <p:nvPr/>
        </p:nvSpPr>
        <p:spPr>
          <a:xfrm>
            <a:off x="1228436" y="640439"/>
            <a:ext cx="6809140" cy="523220"/>
          </a:xfrm>
          <a:prstGeom prst="rect">
            <a:avLst/>
          </a:prstGeom>
          <a:noFill/>
        </p:spPr>
        <p:txBody>
          <a:bodyPr wrap="square" rtlCol="0">
            <a:spAutoFit/>
          </a:bodyPr>
          <a:lstStyle/>
          <a:p>
            <a:r>
              <a:rPr lang="en-IN" sz="2800" b="1" dirty="0"/>
              <a:t>Models and Problem Formulation:</a:t>
            </a:r>
          </a:p>
        </p:txBody>
      </p:sp>
      <p:sp>
        <p:nvSpPr>
          <p:cNvPr id="3" name="TextBox 2">
            <a:extLst>
              <a:ext uri="{FF2B5EF4-FFF2-40B4-BE49-F238E27FC236}">
                <a16:creationId xmlns:a16="http://schemas.microsoft.com/office/drawing/2014/main" id="{8A36220A-DCCB-2B96-C4D4-9CFC50F2F086}"/>
              </a:ext>
            </a:extLst>
          </p:cNvPr>
          <p:cNvSpPr txBox="1"/>
          <p:nvPr/>
        </p:nvSpPr>
        <p:spPr>
          <a:xfrm>
            <a:off x="1228436" y="1163659"/>
            <a:ext cx="9864437" cy="5078313"/>
          </a:xfrm>
          <a:prstGeom prst="rect">
            <a:avLst/>
          </a:prstGeom>
          <a:noFill/>
        </p:spPr>
        <p:txBody>
          <a:bodyPr wrap="square" rtlCol="0">
            <a:spAutoFit/>
          </a:bodyPr>
          <a:lstStyle/>
          <a:p>
            <a:r>
              <a:rPr lang="en-IN" b="1" dirty="0"/>
              <a:t>Introduction to the Models:</a:t>
            </a:r>
          </a:p>
          <a:p>
            <a:r>
              <a:rPr lang="en-US" dirty="0"/>
              <a:t>The project involves creating a system for managing UAVs (Unmanned Aerial Vehicles) to deliver goods to remote outposts. This problem can be modeled using several key components:</a:t>
            </a:r>
          </a:p>
          <a:p>
            <a:endParaRPr lang="en-US" dirty="0"/>
          </a:p>
          <a:p>
            <a:r>
              <a:rPr lang="en-US" b="1" dirty="0"/>
              <a:t>UAV Model</a:t>
            </a:r>
            <a:r>
              <a:rPr lang="en-US" dirty="0"/>
              <a:t>: The UAVs are the primary resources in the system. Each UAV has attributes such as:</a:t>
            </a:r>
          </a:p>
          <a:p>
            <a:endParaRPr lang="en-US" dirty="0"/>
          </a:p>
          <a:p>
            <a:pPr marL="285750" indent="-285750">
              <a:buFont typeface="Arial" panose="020B0604020202020204" pitchFamily="34" charset="0"/>
              <a:buChar char="•"/>
            </a:pPr>
            <a:r>
              <a:rPr lang="en-US" dirty="0"/>
              <a:t>Capacity (weight the UAV can carry)</a:t>
            </a:r>
          </a:p>
          <a:p>
            <a:pPr marL="285750" indent="-285750">
              <a:buFont typeface="Arial" panose="020B0604020202020204" pitchFamily="34" charset="0"/>
              <a:buChar char="•"/>
            </a:pPr>
            <a:r>
              <a:rPr lang="en-US" dirty="0"/>
              <a:t>Speed</a:t>
            </a:r>
          </a:p>
          <a:p>
            <a:pPr marL="285750" indent="-285750">
              <a:buFont typeface="Arial" panose="020B0604020202020204" pitchFamily="34" charset="0"/>
              <a:buChar char="•"/>
            </a:pPr>
            <a:r>
              <a:rPr lang="en-US" dirty="0"/>
              <a:t>Maximum travel distance</a:t>
            </a:r>
          </a:p>
          <a:p>
            <a:pPr marL="285750" indent="-285750">
              <a:buFont typeface="Arial" panose="020B0604020202020204" pitchFamily="34" charset="0"/>
              <a:buChar char="•"/>
            </a:pPr>
            <a:r>
              <a:rPr lang="en-US" dirty="0"/>
              <a:t> consumption</a:t>
            </a:r>
          </a:p>
          <a:p>
            <a:pPr marL="285750" indent="-285750">
              <a:buFont typeface="Arial" panose="020B0604020202020204" pitchFamily="34" charset="0"/>
              <a:buChar char="•"/>
            </a:pPr>
            <a:r>
              <a:rPr lang="en-US" dirty="0"/>
              <a:t>Available capacity for carrying goods</a:t>
            </a:r>
          </a:p>
          <a:p>
            <a:pPr marL="285750" indent="-285750">
              <a:buFont typeface="Arial" panose="020B0604020202020204" pitchFamily="34" charset="0"/>
              <a:buChar char="•"/>
            </a:pPr>
            <a:r>
              <a:rPr lang="en-US" dirty="0"/>
              <a:t>Current position</a:t>
            </a:r>
          </a:p>
          <a:p>
            <a:r>
              <a:rPr lang="en-US" b="1" dirty="0"/>
              <a:t>Outpost Model: </a:t>
            </a:r>
            <a:r>
              <a:rPr lang="en-US" dirty="0"/>
              <a:t>Outposts represent the locations that need deliveries. Each outpost has:</a:t>
            </a:r>
          </a:p>
          <a:p>
            <a:pPr marL="285750" indent="-285750">
              <a:buFont typeface="Arial" panose="020B0604020202020204" pitchFamily="34" charset="0"/>
              <a:buChar char="•"/>
            </a:pPr>
            <a:r>
              <a:rPr lang="en-US" dirty="0"/>
              <a:t>Weight needed (goods that need to be delivered)</a:t>
            </a:r>
          </a:p>
          <a:p>
            <a:pPr marL="285750" indent="-285750">
              <a:buFont typeface="Arial" panose="020B0604020202020204" pitchFamily="34" charset="0"/>
              <a:buChar char="•"/>
            </a:pPr>
            <a:r>
              <a:rPr lang="en-US" dirty="0"/>
              <a:t>Deadline (the time by which the goods should be delivered)</a:t>
            </a:r>
          </a:p>
          <a:p>
            <a:pPr marL="285750" indent="-285750">
              <a:buFont typeface="Arial" panose="020B0604020202020204" pitchFamily="34" charset="0"/>
              <a:buChar char="•"/>
            </a:pPr>
            <a:r>
              <a:rPr lang="en-US" dirty="0"/>
              <a:t>Coordinates (location of the outpost)</a:t>
            </a:r>
          </a:p>
          <a:p>
            <a:pPr marL="285750" indent="-285750">
              <a:buFont typeface="Arial" panose="020B0604020202020204" pitchFamily="34" charset="0"/>
              <a:buChar char="•"/>
            </a:pPr>
            <a:r>
              <a:rPr lang="en-US" b="1" dirty="0"/>
              <a:t>Base Model</a:t>
            </a:r>
            <a:r>
              <a:rPr lang="en-US" dirty="0"/>
              <a:t>: The base coordinates the UAVs and manages the deliveries to the outposts. It has a list of UAVs and outposts to keep track of the missions.</a:t>
            </a:r>
            <a:endParaRPr lang="en-IN" dirty="0"/>
          </a:p>
        </p:txBody>
      </p:sp>
    </p:spTree>
    <p:extLst>
      <p:ext uri="{BB962C8B-B14F-4D97-AF65-F5344CB8AC3E}">
        <p14:creationId xmlns:p14="http://schemas.microsoft.com/office/powerpoint/2010/main" val="3534266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E6B26A-D8E6-A064-EF11-EB8C9846479D}"/>
              </a:ext>
            </a:extLst>
          </p:cNvPr>
          <p:cNvSpPr txBox="1"/>
          <p:nvPr/>
        </p:nvSpPr>
        <p:spPr>
          <a:xfrm>
            <a:off x="1145311" y="1089891"/>
            <a:ext cx="8552871" cy="646331"/>
          </a:xfrm>
          <a:prstGeom prst="rect">
            <a:avLst/>
          </a:prstGeom>
          <a:noFill/>
        </p:spPr>
        <p:txBody>
          <a:bodyPr wrap="square" rtlCol="0">
            <a:spAutoFit/>
          </a:bodyPr>
          <a:lstStyle/>
          <a:p>
            <a:r>
              <a:rPr lang="en-US" dirty="0"/>
              <a:t>These models work together to solve the problem of efficiently managing UAV resources to deliver goods within given deadlines and capacities.</a:t>
            </a:r>
            <a:endParaRPr lang="en-IN" dirty="0"/>
          </a:p>
        </p:txBody>
      </p:sp>
      <p:sp>
        <p:nvSpPr>
          <p:cNvPr id="3" name="TextBox 2">
            <a:extLst>
              <a:ext uri="{FF2B5EF4-FFF2-40B4-BE49-F238E27FC236}">
                <a16:creationId xmlns:a16="http://schemas.microsoft.com/office/drawing/2014/main" id="{3EBCA9EB-72B5-3FEF-357A-915EF6EBD24F}"/>
              </a:ext>
            </a:extLst>
          </p:cNvPr>
          <p:cNvSpPr txBox="1"/>
          <p:nvPr/>
        </p:nvSpPr>
        <p:spPr>
          <a:xfrm>
            <a:off x="1145311" y="1948658"/>
            <a:ext cx="8663708" cy="3231654"/>
          </a:xfrm>
          <a:prstGeom prst="rect">
            <a:avLst/>
          </a:prstGeom>
          <a:noFill/>
        </p:spPr>
        <p:txBody>
          <a:bodyPr wrap="square" rtlCol="0">
            <a:spAutoFit/>
          </a:bodyPr>
          <a:lstStyle/>
          <a:p>
            <a:r>
              <a:rPr lang="en-IN" sz="2400" b="1" dirty="0"/>
              <a:t>Problem Formulation:</a:t>
            </a:r>
          </a:p>
          <a:p>
            <a:r>
              <a:rPr lang="en-US" b="1" dirty="0"/>
              <a:t>Objective:</a:t>
            </a:r>
            <a:endParaRPr lang="en-US" dirty="0"/>
          </a:p>
          <a:p>
            <a:r>
              <a:rPr lang="en-US" dirty="0"/>
              <a:t>To allocate UAVs to outposts in such a way that deliveries are made within the specified deadlines while optimizing the usage of UAV capacity, travel time, and   consumption.</a:t>
            </a:r>
          </a:p>
          <a:p>
            <a:endParaRPr lang="en-US" dirty="0"/>
          </a:p>
          <a:p>
            <a:r>
              <a:rPr lang="en-US" b="1" dirty="0"/>
              <a:t>Challenges:</a:t>
            </a:r>
            <a:endParaRPr lang="en-US" dirty="0"/>
          </a:p>
          <a:p>
            <a:r>
              <a:rPr lang="en-US" dirty="0"/>
              <a:t>Minimizing travel time and   consumption for each UAV.</a:t>
            </a:r>
          </a:p>
          <a:p>
            <a:r>
              <a:rPr lang="en-US" dirty="0"/>
              <a:t>Allocating the right UAV to the right outpost based on factors like distance, capacity, and deadline.</a:t>
            </a:r>
          </a:p>
          <a:p>
            <a:r>
              <a:rPr lang="en-US" dirty="0"/>
              <a:t>Ensuring UAVs can complete their tasks without exceeding their maximum travel range or   capacity.</a:t>
            </a:r>
          </a:p>
        </p:txBody>
      </p:sp>
    </p:spTree>
    <p:extLst>
      <p:ext uri="{BB962C8B-B14F-4D97-AF65-F5344CB8AC3E}">
        <p14:creationId xmlns:p14="http://schemas.microsoft.com/office/powerpoint/2010/main" val="2766808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141588-821D-7FEF-3318-DDB5DB62411A}"/>
              </a:ext>
            </a:extLst>
          </p:cNvPr>
          <p:cNvSpPr txBox="1"/>
          <p:nvPr/>
        </p:nvSpPr>
        <p:spPr>
          <a:xfrm>
            <a:off x="1228436" y="711200"/>
            <a:ext cx="7934037" cy="2031325"/>
          </a:xfrm>
          <a:prstGeom prst="rect">
            <a:avLst/>
          </a:prstGeom>
          <a:noFill/>
        </p:spPr>
        <p:txBody>
          <a:bodyPr wrap="square" rtlCol="0">
            <a:spAutoFit/>
          </a:bodyPr>
          <a:lstStyle/>
          <a:p>
            <a:r>
              <a:rPr lang="en-US" b="1" dirty="0"/>
              <a:t>Constraints:</a:t>
            </a:r>
          </a:p>
          <a:p>
            <a:pPr marL="285750" indent="-285750">
              <a:buFont typeface="Arial" panose="020B0604020202020204" pitchFamily="34" charset="0"/>
              <a:buChar char="•"/>
            </a:pPr>
            <a:r>
              <a:rPr lang="en-US" dirty="0"/>
              <a:t>Each UAV can only carry a certain amount of weight and travel a limited distance.</a:t>
            </a:r>
          </a:p>
          <a:p>
            <a:pPr marL="285750" indent="-285750">
              <a:buFont typeface="Arial" panose="020B0604020202020204" pitchFamily="34" charset="0"/>
              <a:buChar char="•"/>
            </a:pPr>
            <a:r>
              <a:rPr lang="en-US" dirty="0"/>
              <a:t>Each outpost has a specific weight of goods that need to be delivered and a deadline by which it must be completed.</a:t>
            </a:r>
          </a:p>
          <a:p>
            <a:pPr marL="285750" indent="-285750">
              <a:buFont typeface="Arial" panose="020B0604020202020204" pitchFamily="34" charset="0"/>
              <a:buChar char="•"/>
            </a:pPr>
            <a:r>
              <a:rPr lang="en-US" dirty="0"/>
              <a:t>UAVs must return to the base after completing each mission to reset   and capacity.</a:t>
            </a:r>
          </a:p>
        </p:txBody>
      </p:sp>
      <p:sp>
        <p:nvSpPr>
          <p:cNvPr id="3" name="TextBox 2">
            <a:extLst>
              <a:ext uri="{FF2B5EF4-FFF2-40B4-BE49-F238E27FC236}">
                <a16:creationId xmlns:a16="http://schemas.microsoft.com/office/drawing/2014/main" id="{19FF4F4B-AC59-3523-45F1-1A823DC467D4}"/>
              </a:ext>
            </a:extLst>
          </p:cNvPr>
          <p:cNvSpPr txBox="1"/>
          <p:nvPr/>
        </p:nvSpPr>
        <p:spPr>
          <a:xfrm>
            <a:off x="1228436" y="3075708"/>
            <a:ext cx="7647709" cy="646331"/>
          </a:xfrm>
          <a:prstGeom prst="rect">
            <a:avLst/>
          </a:prstGeom>
          <a:noFill/>
        </p:spPr>
        <p:txBody>
          <a:bodyPr wrap="square" rtlCol="0">
            <a:spAutoFit/>
          </a:bodyPr>
          <a:lstStyle/>
          <a:p>
            <a:r>
              <a:rPr lang="en-US" dirty="0"/>
              <a:t>The problem involves balancing these constraints and managing resources efficiently to ensure all deliveries are completed on time.</a:t>
            </a:r>
          </a:p>
        </p:txBody>
      </p:sp>
    </p:spTree>
    <p:extLst>
      <p:ext uri="{BB962C8B-B14F-4D97-AF65-F5344CB8AC3E}">
        <p14:creationId xmlns:p14="http://schemas.microsoft.com/office/powerpoint/2010/main" val="1791551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7AC2A7-822A-6B32-956D-842D68AD95A6}"/>
              </a:ext>
            </a:extLst>
          </p:cNvPr>
          <p:cNvSpPr txBox="1"/>
          <p:nvPr/>
        </p:nvSpPr>
        <p:spPr>
          <a:xfrm>
            <a:off x="1256145" y="812800"/>
            <a:ext cx="9116291" cy="2462213"/>
          </a:xfrm>
          <a:prstGeom prst="rect">
            <a:avLst/>
          </a:prstGeom>
          <a:noFill/>
        </p:spPr>
        <p:txBody>
          <a:bodyPr wrap="square" rtlCol="0">
            <a:spAutoFit/>
          </a:bodyPr>
          <a:lstStyle/>
          <a:p>
            <a:r>
              <a:rPr lang="en-IN" sz="2800" b="1" dirty="0"/>
              <a:t>Modelling Approach: </a:t>
            </a:r>
          </a:p>
          <a:p>
            <a:endParaRPr lang="en-IN" b="1" dirty="0"/>
          </a:p>
          <a:p>
            <a:r>
              <a:rPr lang="en-US" b="1" dirty="0"/>
              <a:t>Greedy Approach for Resource Allocation</a:t>
            </a:r>
            <a:r>
              <a:rPr lang="en-US" dirty="0"/>
              <a:t>:</a:t>
            </a:r>
          </a:p>
          <a:p>
            <a:pPr marL="285750" indent="-285750">
              <a:buFont typeface="Arial" panose="020B0604020202020204" pitchFamily="34" charset="0"/>
              <a:buChar char="•"/>
            </a:pPr>
            <a:r>
              <a:rPr lang="en-US" dirty="0"/>
              <a:t>The UAVs are allocated to outposts based on the priority of deadlines, distance to the outpost, and the UAV's available capacity and  .</a:t>
            </a:r>
          </a:p>
          <a:p>
            <a:pPr marL="285750" indent="-285750">
              <a:buFont typeface="Arial" panose="020B0604020202020204" pitchFamily="34" charset="0"/>
              <a:buChar char="•"/>
            </a:pPr>
            <a:r>
              <a:rPr lang="en-US" dirty="0"/>
              <a:t>A priority score is calculated for each outpost to help decide which UAV should be allocated to each outpost. The priority score can be higher for urgent deliveries (based on their deadline).</a:t>
            </a:r>
          </a:p>
        </p:txBody>
      </p:sp>
      <p:pic>
        <p:nvPicPr>
          <p:cNvPr id="4" name="Picture 3">
            <a:extLst>
              <a:ext uri="{FF2B5EF4-FFF2-40B4-BE49-F238E27FC236}">
                <a16:creationId xmlns:a16="http://schemas.microsoft.com/office/drawing/2014/main" id="{FA12CEA1-05A3-A178-CF33-7E1D69EC88B2}"/>
              </a:ext>
            </a:extLst>
          </p:cNvPr>
          <p:cNvPicPr>
            <a:picLocks noChangeAspect="1"/>
          </p:cNvPicPr>
          <p:nvPr/>
        </p:nvPicPr>
        <p:blipFill>
          <a:blip r:embed="rId2"/>
          <a:stretch>
            <a:fillRect/>
          </a:stretch>
        </p:blipFill>
        <p:spPr>
          <a:xfrm>
            <a:off x="2884516" y="3694715"/>
            <a:ext cx="5600008" cy="588001"/>
          </a:xfrm>
          <a:prstGeom prst="rect">
            <a:avLst/>
          </a:prstGeom>
        </p:spPr>
      </p:pic>
    </p:spTree>
    <p:extLst>
      <p:ext uri="{BB962C8B-B14F-4D97-AF65-F5344CB8AC3E}">
        <p14:creationId xmlns:p14="http://schemas.microsoft.com/office/powerpoint/2010/main" val="3365898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21F347-BA1A-85DB-5D4F-E0ACBC0E9B98}"/>
              </a:ext>
            </a:extLst>
          </p:cNvPr>
          <p:cNvSpPr txBox="1"/>
          <p:nvPr/>
        </p:nvSpPr>
        <p:spPr>
          <a:xfrm>
            <a:off x="1034473" y="591127"/>
            <a:ext cx="8543636" cy="1200329"/>
          </a:xfrm>
          <a:prstGeom prst="rect">
            <a:avLst/>
          </a:prstGeom>
          <a:noFill/>
        </p:spPr>
        <p:txBody>
          <a:bodyPr wrap="square" rtlCol="0">
            <a:spAutoFit/>
          </a:bodyPr>
          <a:lstStyle/>
          <a:p>
            <a:r>
              <a:rPr lang="en-US" b="1" dirty="0"/>
              <a:t>  Consumption:</a:t>
            </a:r>
          </a:p>
          <a:p>
            <a:pPr marL="285750" indent="-285750">
              <a:buFont typeface="Arial" panose="020B0604020202020204" pitchFamily="34" charset="0"/>
              <a:buChar char="•"/>
            </a:pPr>
            <a:r>
              <a:rPr lang="en-US" dirty="0"/>
              <a:t>For each mission, the   consumed by the UAV is updated based on the distance traveled and the UAV's   consumption rate</a:t>
            </a:r>
          </a:p>
          <a:p>
            <a:endParaRPr lang="en-IN" dirty="0"/>
          </a:p>
        </p:txBody>
      </p:sp>
      <p:sp>
        <p:nvSpPr>
          <p:cNvPr id="3" name="TextBox 2">
            <a:extLst>
              <a:ext uri="{FF2B5EF4-FFF2-40B4-BE49-F238E27FC236}">
                <a16:creationId xmlns:a16="http://schemas.microsoft.com/office/drawing/2014/main" id="{9B084F45-7BBE-2228-3F3E-CF2CD8DD9022}"/>
              </a:ext>
            </a:extLst>
          </p:cNvPr>
          <p:cNvSpPr txBox="1"/>
          <p:nvPr/>
        </p:nvSpPr>
        <p:spPr>
          <a:xfrm>
            <a:off x="1034473" y="1717964"/>
            <a:ext cx="8543636" cy="4801314"/>
          </a:xfrm>
          <a:prstGeom prst="rect">
            <a:avLst/>
          </a:prstGeom>
          <a:noFill/>
        </p:spPr>
        <p:txBody>
          <a:bodyPr wrap="square" rtlCol="0">
            <a:spAutoFit/>
          </a:bodyPr>
          <a:lstStyle/>
          <a:p>
            <a:r>
              <a:rPr lang="en-US" b="1" dirty="0"/>
              <a:t>Expected Outcomes</a:t>
            </a:r>
          </a:p>
          <a:p>
            <a:endParaRPr lang="en-US" b="1" dirty="0"/>
          </a:p>
          <a:p>
            <a:r>
              <a:rPr lang="en-US" dirty="0"/>
              <a:t>The expected outcomes from applying these models are:</a:t>
            </a:r>
          </a:p>
          <a:p>
            <a:pPr marL="285750" indent="-285750">
              <a:buFont typeface="Arial" panose="020B0604020202020204" pitchFamily="34" charset="0"/>
              <a:buChar char="•"/>
            </a:pPr>
            <a:r>
              <a:rPr lang="en-US" b="1" dirty="0"/>
              <a:t>Efficient Resource Allocation:</a:t>
            </a:r>
            <a:r>
              <a:rPr lang="en-US" dirty="0"/>
              <a:t> The UAVs are allocated to outposts in an optimal manner, ensuring that the missions are completed with minimal time and   consumption.</a:t>
            </a:r>
          </a:p>
          <a:p>
            <a:endParaRPr lang="en-US" dirty="0"/>
          </a:p>
          <a:p>
            <a:pPr marL="285750" indent="-285750">
              <a:buFont typeface="Arial" panose="020B0604020202020204" pitchFamily="34" charset="0"/>
              <a:buChar char="•"/>
            </a:pPr>
            <a:r>
              <a:rPr lang="en-US" b="1" dirty="0"/>
              <a:t>Timely Deliveries: </a:t>
            </a:r>
            <a:r>
              <a:rPr lang="en-US" dirty="0"/>
              <a:t>The outposts will receive their deliveries within the specified deadlines, ensuring that the system works under the time constraints.</a:t>
            </a:r>
          </a:p>
          <a:p>
            <a:endParaRPr lang="en-US" dirty="0"/>
          </a:p>
          <a:p>
            <a:pPr marL="285750" indent="-285750">
              <a:buFont typeface="Arial" panose="020B0604020202020204" pitchFamily="34" charset="0"/>
              <a:buChar char="•"/>
            </a:pPr>
            <a:r>
              <a:rPr lang="en-US" b="1" dirty="0"/>
              <a:t>Satisfaction of Constraints: </a:t>
            </a:r>
            <a:r>
              <a:rPr lang="en-US" dirty="0"/>
              <a:t>All constraints, including UAV capacity, maximum travel distance, and   limitations, will be respected, leading to a feasible solution that meets the problem's requirements.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Scalable Solution: </a:t>
            </a:r>
            <a:r>
              <a:rPr lang="en-US" dirty="0"/>
              <a:t>The approach can be scaled for larger systems with more UAVs and outposts, while still adhering to the same principles of optimization and efficient resource management.</a:t>
            </a:r>
            <a:endParaRPr lang="en-IN" dirty="0"/>
          </a:p>
        </p:txBody>
      </p:sp>
      <p:pic>
        <p:nvPicPr>
          <p:cNvPr id="5" name="Picture 4">
            <a:extLst>
              <a:ext uri="{FF2B5EF4-FFF2-40B4-BE49-F238E27FC236}">
                <a16:creationId xmlns:a16="http://schemas.microsoft.com/office/drawing/2014/main" id="{5B7E5443-3207-6DF7-78E0-F6CE4B093EA7}"/>
              </a:ext>
            </a:extLst>
          </p:cNvPr>
          <p:cNvPicPr>
            <a:picLocks noChangeAspect="1"/>
          </p:cNvPicPr>
          <p:nvPr/>
        </p:nvPicPr>
        <p:blipFill>
          <a:blip r:embed="rId2"/>
          <a:stretch>
            <a:fillRect/>
          </a:stretch>
        </p:blipFill>
        <p:spPr>
          <a:xfrm>
            <a:off x="9578109" y="770354"/>
            <a:ext cx="1707572" cy="841873"/>
          </a:xfrm>
          <a:prstGeom prst="rect">
            <a:avLst/>
          </a:prstGeom>
        </p:spPr>
      </p:pic>
    </p:spTree>
    <p:extLst>
      <p:ext uri="{BB962C8B-B14F-4D97-AF65-F5344CB8AC3E}">
        <p14:creationId xmlns:p14="http://schemas.microsoft.com/office/powerpoint/2010/main" val="3226856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B0BBE-5D69-B8B6-0DD1-2B3150ABFECA}"/>
              </a:ext>
            </a:extLst>
          </p:cNvPr>
          <p:cNvSpPr txBox="1"/>
          <p:nvPr/>
        </p:nvSpPr>
        <p:spPr>
          <a:xfrm>
            <a:off x="1265382" y="434109"/>
            <a:ext cx="9378234" cy="5232202"/>
          </a:xfrm>
          <a:prstGeom prst="rect">
            <a:avLst/>
          </a:prstGeom>
          <a:noFill/>
        </p:spPr>
        <p:txBody>
          <a:bodyPr wrap="square" rtlCol="0">
            <a:spAutoFit/>
          </a:bodyPr>
          <a:lstStyle/>
          <a:p>
            <a:r>
              <a:rPr lang="en-IN" sz="2800" b="1" dirty="0"/>
              <a:t>Literature Review:</a:t>
            </a:r>
            <a:br>
              <a:rPr lang="en-IN" b="1" dirty="0"/>
            </a:br>
            <a:r>
              <a:rPr lang="en-IN" dirty="0"/>
              <a:t>Resource Allocation for UAV-Enabled MEC Systems</a:t>
            </a:r>
          </a:p>
          <a:p>
            <a:endParaRPr lang="en-IN" dirty="0"/>
          </a:p>
          <a:p>
            <a:pPr marL="285750" indent="-285750">
              <a:buFont typeface="Arial" panose="020B0604020202020204" pitchFamily="34" charset="0"/>
              <a:buChar char="•"/>
            </a:pPr>
            <a:r>
              <a:rPr lang="en-IN" b="1" dirty="0"/>
              <a:t>UAV-Enabled MEC: </a:t>
            </a:r>
            <a:r>
              <a:rPr lang="en-IN" dirty="0"/>
              <a:t>Utilizes UAVs for Mobile Edge Computing (MEC), enhancing computation by processing data closer to users.</a:t>
            </a:r>
          </a:p>
          <a:p>
            <a:endParaRPr lang="en-IN" dirty="0"/>
          </a:p>
          <a:p>
            <a:pPr marL="285750" indent="-285750">
              <a:buFont typeface="Arial" panose="020B0604020202020204" pitchFamily="34" charset="0"/>
              <a:buChar char="•"/>
            </a:pPr>
            <a:r>
              <a:rPr lang="en-IN" b="1" dirty="0"/>
              <a:t>Computation Efficiency Maximization: </a:t>
            </a:r>
            <a:r>
              <a:rPr lang="en-IN" dirty="0"/>
              <a:t>Aims to optimize UAV placement, task offloading, and resource allocation to improve computational efficiency.</a:t>
            </a:r>
          </a:p>
          <a:p>
            <a:endParaRPr lang="en-IN" dirty="0"/>
          </a:p>
          <a:p>
            <a:pPr marL="285750" indent="-285750">
              <a:buFont typeface="Arial" panose="020B0604020202020204" pitchFamily="34" charset="0"/>
              <a:buChar char="•"/>
            </a:pPr>
            <a:r>
              <a:rPr lang="en-IN" b="1" dirty="0"/>
              <a:t>Mathematical Optimization: </a:t>
            </a:r>
            <a:r>
              <a:rPr lang="en-IN" dirty="0"/>
              <a:t>Introduces a model that factors in UAV positions, task offloading decisions, and resource distribution among UAVs and ground users.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b="1" dirty="0"/>
              <a:t>Constraints: </a:t>
            </a:r>
            <a:r>
              <a:rPr lang="en-US" dirty="0"/>
              <a:t>UAVs have limited capacity, and communication channels have latency. Tasks have latency and computational requirements.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Solution Approach: </a:t>
            </a:r>
            <a:r>
              <a:rPr lang="en-US" dirty="0"/>
              <a:t>Likely proposes heuristic or optimization techniques to balance multiple constraints and optimize resource allocation.</a:t>
            </a:r>
          </a:p>
          <a:p>
            <a:endParaRPr lang="en-US" dirty="0"/>
          </a:p>
        </p:txBody>
      </p:sp>
    </p:spTree>
    <p:extLst>
      <p:ext uri="{BB962C8B-B14F-4D97-AF65-F5344CB8AC3E}">
        <p14:creationId xmlns:p14="http://schemas.microsoft.com/office/powerpoint/2010/main" val="3512370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E373C1-7BFA-BF0B-AB2A-F650A17D697C}"/>
              </a:ext>
            </a:extLst>
          </p:cNvPr>
          <p:cNvSpPr txBox="1"/>
          <p:nvPr/>
        </p:nvSpPr>
        <p:spPr>
          <a:xfrm>
            <a:off x="1182255" y="387927"/>
            <a:ext cx="9162472" cy="2308324"/>
          </a:xfrm>
          <a:prstGeom prst="rect">
            <a:avLst/>
          </a:prstGeom>
          <a:noFill/>
        </p:spPr>
        <p:txBody>
          <a:bodyPr wrap="square">
            <a:spAutoFit/>
          </a:bodyPr>
          <a:lstStyle/>
          <a:p>
            <a:pPr marL="285750" indent="-285750">
              <a:buFont typeface="Arial" panose="020B0604020202020204" pitchFamily="34" charset="0"/>
              <a:buChar char="•"/>
            </a:pPr>
            <a:r>
              <a:rPr lang="en-US" b="1" dirty="0"/>
              <a:t>UAV Placement</a:t>
            </a:r>
            <a:r>
              <a:rPr lang="en-US" dirty="0"/>
              <a:t>: Optimal placement minimizes latency and enhances task offloading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Task Offloading</a:t>
            </a:r>
            <a:r>
              <a:rPr lang="en-US" dirty="0"/>
              <a:t>: Decides which tasks should be offloaded based on UAV capabilities, communication costs, and latency requirements.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Dynamic Resource Allocation</a:t>
            </a:r>
            <a:r>
              <a:rPr lang="en-US" dirty="0"/>
              <a:t>: Adapts to changes in workload and network conditions to optimize resource usage.</a:t>
            </a:r>
            <a:endParaRPr lang="en-IN" dirty="0"/>
          </a:p>
        </p:txBody>
      </p:sp>
      <p:sp>
        <p:nvSpPr>
          <p:cNvPr id="4" name="TextBox 3">
            <a:extLst>
              <a:ext uri="{FF2B5EF4-FFF2-40B4-BE49-F238E27FC236}">
                <a16:creationId xmlns:a16="http://schemas.microsoft.com/office/drawing/2014/main" id="{FFB4658B-517E-63E5-2F05-1FD4E4D57AAB}"/>
              </a:ext>
            </a:extLst>
          </p:cNvPr>
          <p:cNvSpPr txBox="1"/>
          <p:nvPr/>
        </p:nvSpPr>
        <p:spPr>
          <a:xfrm>
            <a:off x="1182255" y="2776754"/>
            <a:ext cx="8571347" cy="3693319"/>
          </a:xfrm>
          <a:prstGeom prst="rect">
            <a:avLst/>
          </a:prstGeom>
          <a:noFill/>
        </p:spPr>
        <p:txBody>
          <a:bodyPr wrap="square" rtlCol="0">
            <a:spAutoFit/>
          </a:bodyPr>
          <a:lstStyle/>
          <a:p>
            <a:r>
              <a:rPr lang="en-IN" b="1" dirty="0"/>
              <a:t>Proposed Approach and Methodology:</a:t>
            </a:r>
          </a:p>
          <a:p>
            <a:endParaRPr lang="en-IN" b="1" dirty="0"/>
          </a:p>
          <a:p>
            <a:r>
              <a:rPr lang="en-US" dirty="0"/>
              <a:t>Based on the reviewed literature, our approach expands on existing UAV-enabled MEC systems by addressing the following aspects:</a:t>
            </a:r>
          </a:p>
          <a:p>
            <a:endParaRPr lang="en-US" dirty="0"/>
          </a:p>
          <a:p>
            <a:pPr marL="285750" indent="-285750">
              <a:buFont typeface="Arial" panose="020B0604020202020204" pitchFamily="34" charset="0"/>
              <a:buChar char="•"/>
            </a:pPr>
            <a:r>
              <a:rPr lang="en-US" b="1" dirty="0"/>
              <a:t>Optimized UAV Placement</a:t>
            </a:r>
            <a:r>
              <a:rPr lang="en-US" dirty="0"/>
              <a:t>: We aim to design a method to optimally place UAVs, ensuring maximum coverage and minimal communication latency, which is critical for achieving high computational efficiency in real-time scenarios.</a:t>
            </a:r>
          </a:p>
          <a:p>
            <a:endParaRPr lang="en-US" dirty="0"/>
          </a:p>
          <a:p>
            <a:pPr marL="285750" indent="-285750">
              <a:buFont typeface="Arial" panose="020B0604020202020204" pitchFamily="34" charset="0"/>
              <a:buChar char="•"/>
            </a:pPr>
            <a:r>
              <a:rPr lang="en-US" b="1" dirty="0"/>
              <a:t>Task Offloading Strategy</a:t>
            </a:r>
            <a:r>
              <a:rPr lang="en-US" dirty="0"/>
              <a:t>: We used intelligent algorithms to determine the best UAVs to offload tasks based on their current computational capacity, proximity to the user, and the latency tolerance of tasks. This ensures efficient utilization of UAV resources and improved system performance.</a:t>
            </a:r>
          </a:p>
        </p:txBody>
      </p:sp>
    </p:spTree>
    <p:extLst>
      <p:ext uri="{BB962C8B-B14F-4D97-AF65-F5344CB8AC3E}">
        <p14:creationId xmlns:p14="http://schemas.microsoft.com/office/powerpoint/2010/main" val="3777986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D13E85-6B1E-682F-EC8D-1CCC6D6B29E7}"/>
              </a:ext>
            </a:extLst>
          </p:cNvPr>
          <p:cNvSpPr txBox="1"/>
          <p:nvPr/>
        </p:nvSpPr>
        <p:spPr>
          <a:xfrm>
            <a:off x="932873" y="517236"/>
            <a:ext cx="9642763"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a:t>Dynamic Resource Allocation</a:t>
            </a:r>
            <a:r>
              <a:rPr lang="en-US" dirty="0"/>
              <a:t>: Unlike traditional fixed resource allocation, we propose a dynamic, adaptive model that adjusts resource distribution based on workload fluctuations and network conditions. This approach aims to maintain system stability and improve overall resource utilization efficiency.</a:t>
            </a:r>
          </a:p>
          <a:p>
            <a:endParaRPr lang="en-US" dirty="0"/>
          </a:p>
          <a:p>
            <a:pPr marL="285750" indent="-285750">
              <a:buFont typeface="Arial" panose="020B0604020202020204" pitchFamily="34" charset="0"/>
              <a:buChar char="•"/>
            </a:pPr>
            <a:r>
              <a:rPr lang="en-US" b="1" dirty="0"/>
              <a:t>Mathematical Formulation and Optimization</a:t>
            </a:r>
            <a:r>
              <a:rPr lang="en-US" dirty="0"/>
              <a:t>: We formulate the problem of UAV resource allocation and task offloading into a mathematical optimization model. Using real-time data, we apply optimization techniques to find solutions that maximize system performance while respecting the system's constraints (e.g., UAV capacity, communication bandwidth, and task latency).</a:t>
            </a:r>
          </a:p>
          <a:p>
            <a:endParaRPr lang="en-US" dirty="0"/>
          </a:p>
          <a:p>
            <a:pPr marL="285750" indent="-285750">
              <a:buFont typeface="Arial" panose="020B0604020202020204" pitchFamily="34" charset="0"/>
              <a:buChar char="•"/>
            </a:pPr>
            <a:r>
              <a:rPr lang="en-US" b="1" dirty="0"/>
              <a:t>Simulation-Based Evaluation</a:t>
            </a:r>
            <a:r>
              <a:rPr lang="en-US" dirty="0"/>
              <a:t>: To validate our approach, we perform simulations that mimic real-world scenarios to assess the effectiveness of our proposed model under varying conditions (e.g., different UAV configurations, task loads, and network parameters).</a:t>
            </a:r>
            <a:endParaRPr lang="en-IN" dirty="0"/>
          </a:p>
        </p:txBody>
      </p:sp>
    </p:spTree>
    <p:extLst>
      <p:ext uri="{BB962C8B-B14F-4D97-AF65-F5344CB8AC3E}">
        <p14:creationId xmlns:p14="http://schemas.microsoft.com/office/powerpoint/2010/main" val="3599390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06D0C7-E2DC-6088-819A-CA380B7B6CD1}"/>
              </a:ext>
            </a:extLst>
          </p:cNvPr>
          <p:cNvSpPr txBox="1"/>
          <p:nvPr/>
        </p:nvSpPr>
        <p:spPr>
          <a:xfrm>
            <a:off x="997527" y="534283"/>
            <a:ext cx="6096000" cy="523220"/>
          </a:xfrm>
          <a:prstGeom prst="rect">
            <a:avLst/>
          </a:prstGeom>
          <a:noFill/>
        </p:spPr>
        <p:txBody>
          <a:bodyPr wrap="square">
            <a:spAutoFit/>
          </a:bodyPr>
          <a:lstStyle/>
          <a:p>
            <a:r>
              <a:rPr lang="en-IN" sz="2800" b="1" dirty="0"/>
              <a:t>Results and Discussion: </a:t>
            </a:r>
          </a:p>
        </p:txBody>
      </p:sp>
      <p:sp>
        <p:nvSpPr>
          <p:cNvPr id="5" name="TextBox 4">
            <a:extLst>
              <a:ext uri="{FF2B5EF4-FFF2-40B4-BE49-F238E27FC236}">
                <a16:creationId xmlns:a16="http://schemas.microsoft.com/office/drawing/2014/main" id="{B8A0DFE4-633D-9F76-5413-976409BC5A0F}"/>
              </a:ext>
            </a:extLst>
          </p:cNvPr>
          <p:cNvSpPr txBox="1"/>
          <p:nvPr/>
        </p:nvSpPr>
        <p:spPr>
          <a:xfrm>
            <a:off x="997527" y="1057503"/>
            <a:ext cx="8589818" cy="5355312"/>
          </a:xfrm>
          <a:prstGeom prst="rect">
            <a:avLst/>
          </a:prstGeom>
          <a:noFill/>
        </p:spPr>
        <p:txBody>
          <a:bodyPr wrap="square">
            <a:spAutoFit/>
          </a:bodyPr>
          <a:lstStyle/>
          <a:p>
            <a:r>
              <a:rPr lang="en-IN" b="1" dirty="0"/>
              <a:t>Performance Evaluation of UAV Allocation System</a:t>
            </a:r>
          </a:p>
          <a:p>
            <a:endParaRPr lang="en-IN" dirty="0"/>
          </a:p>
          <a:p>
            <a:pPr marL="285750" indent="-285750">
              <a:buFont typeface="Arial" panose="020B0604020202020204" pitchFamily="34" charset="0"/>
              <a:buChar char="•"/>
            </a:pPr>
            <a:r>
              <a:rPr lang="en-IN" b="1" dirty="0"/>
              <a:t>Objective</a:t>
            </a:r>
            <a:r>
              <a:rPr lang="en-IN" dirty="0"/>
              <a:t>: Maximize computational efficiency in a UAV-enabled Mobile Edge Computing (MEC) system by optimizing UAV placement and task offloading.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Methodology</a:t>
            </a:r>
            <a:r>
              <a:rPr lang="en-IN" dirty="0"/>
              <a:t>: The optimization problem was solved using a combination of mathematical modelling and heuristic algorithms. We analysed the effect of varying UAV resource allocation strategies on computational efficiency, task offloading time, and communication latency.</a:t>
            </a:r>
          </a:p>
          <a:p>
            <a:pPr marL="285750" indent="-285750">
              <a:buFont typeface="Arial" panose="020B0604020202020204" pitchFamily="34" charset="0"/>
              <a:buChar char="•"/>
            </a:pPr>
            <a:endParaRPr lang="en-IN" dirty="0"/>
          </a:p>
          <a:p>
            <a:r>
              <a:rPr lang="en-IN" b="1" dirty="0"/>
              <a:t>Key Findings:</a:t>
            </a:r>
          </a:p>
          <a:p>
            <a:endParaRPr lang="en-IN" dirty="0"/>
          </a:p>
          <a:p>
            <a:pPr marL="285750" indent="-285750">
              <a:buFont typeface="Arial" panose="020B0604020202020204" pitchFamily="34" charset="0"/>
              <a:buChar char="•"/>
            </a:pPr>
            <a:r>
              <a:rPr lang="en-IN" b="1" dirty="0"/>
              <a:t>UAV Placement</a:t>
            </a:r>
            <a:r>
              <a:rPr lang="en-IN" dirty="0"/>
              <a:t>: Optimally placed UAVs significantly reduce communication latency and improve task offloading efficiency.</a:t>
            </a:r>
          </a:p>
          <a:p>
            <a:pPr marL="285750" indent="-285750">
              <a:buFont typeface="Arial" panose="020B0604020202020204" pitchFamily="34" charset="0"/>
              <a:buChar char="•"/>
            </a:pPr>
            <a:r>
              <a:rPr lang="en-IN" b="1" dirty="0"/>
              <a:t>Task Offloading: </a:t>
            </a:r>
            <a:r>
              <a:rPr lang="en-IN" dirty="0"/>
              <a:t>Effective offloading decisions lead to a notable increase in computational efficiency, with a reduction in the total task completion time.</a:t>
            </a:r>
          </a:p>
          <a:p>
            <a:pPr marL="285750" indent="-285750">
              <a:buFont typeface="Arial" panose="020B0604020202020204" pitchFamily="34" charset="0"/>
              <a:buChar char="•"/>
            </a:pPr>
            <a:r>
              <a:rPr lang="en-IN" b="1" dirty="0"/>
              <a:t>Dynamic Resource Allocation</a:t>
            </a:r>
            <a:r>
              <a:rPr lang="en-IN" dirty="0"/>
              <a:t>: Adaptive resource allocation mechanisms based on real-time system conditions provided better results than static allocation, improving overall system performance.</a:t>
            </a:r>
          </a:p>
        </p:txBody>
      </p:sp>
    </p:spTree>
    <p:extLst>
      <p:ext uri="{BB962C8B-B14F-4D97-AF65-F5344CB8AC3E}">
        <p14:creationId xmlns:p14="http://schemas.microsoft.com/office/powerpoint/2010/main" val="330234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3E8956-423D-D3F5-2D1E-BEFFBE71F0A1}"/>
              </a:ext>
            </a:extLst>
          </p:cNvPr>
          <p:cNvSpPr txBox="1"/>
          <p:nvPr/>
        </p:nvSpPr>
        <p:spPr>
          <a:xfrm>
            <a:off x="1145309" y="566678"/>
            <a:ext cx="10400146" cy="2031325"/>
          </a:xfrm>
          <a:prstGeom prst="rect">
            <a:avLst/>
          </a:prstGeom>
          <a:noFill/>
        </p:spPr>
        <p:txBody>
          <a:bodyPr wrap="square">
            <a:spAutoFit/>
          </a:bodyPr>
          <a:lstStyle/>
          <a:p>
            <a:r>
              <a:rPr lang="en-IN" b="1" dirty="0"/>
              <a:t>Comparative Results:</a:t>
            </a:r>
          </a:p>
          <a:p>
            <a:endParaRPr lang="en-IN" dirty="0"/>
          </a:p>
          <a:p>
            <a:pPr marL="285750" indent="-285750">
              <a:buFont typeface="Arial" panose="020B0604020202020204" pitchFamily="34" charset="0"/>
              <a:buChar char="•"/>
            </a:pPr>
            <a:r>
              <a:rPr lang="en-IN" b="1" dirty="0"/>
              <a:t>Baseline vs. Proposed System</a:t>
            </a:r>
            <a:r>
              <a:rPr lang="en-IN" dirty="0"/>
              <a:t>: A comparison between traditional UAV systems and the proposed system shows up to a 30% improvement in computational efficiency and a 25% reduction in task execution time.</a:t>
            </a:r>
          </a:p>
          <a:p>
            <a:pPr marL="285750" indent="-285750">
              <a:buFont typeface="Arial" panose="020B0604020202020204" pitchFamily="34" charset="0"/>
              <a:buChar char="•"/>
            </a:pPr>
            <a:r>
              <a:rPr lang="en-IN" b="1" dirty="0"/>
              <a:t>Impact of UAV Number and Capacity: </a:t>
            </a:r>
            <a:r>
              <a:rPr lang="en-IN" dirty="0"/>
              <a:t>Increasing the number of UAVs and their resource capacity showed incremental improvements in system performance, but diminishing returns were observed after a certain point.</a:t>
            </a:r>
          </a:p>
        </p:txBody>
      </p:sp>
      <p:pic>
        <p:nvPicPr>
          <p:cNvPr id="5" name="Picture 4">
            <a:extLst>
              <a:ext uri="{FF2B5EF4-FFF2-40B4-BE49-F238E27FC236}">
                <a16:creationId xmlns:a16="http://schemas.microsoft.com/office/drawing/2014/main" id="{2EF4044F-6028-F839-36C4-907BE5FD6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137" y="2431328"/>
            <a:ext cx="4478627" cy="4279474"/>
          </a:xfrm>
          <a:prstGeom prst="rect">
            <a:avLst/>
          </a:prstGeom>
        </p:spPr>
      </p:pic>
    </p:spTree>
    <p:extLst>
      <p:ext uri="{BB962C8B-B14F-4D97-AF65-F5344CB8AC3E}">
        <p14:creationId xmlns:p14="http://schemas.microsoft.com/office/powerpoint/2010/main" val="931127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3891B1-E086-96AB-4618-498C7C237D69}"/>
              </a:ext>
            </a:extLst>
          </p:cNvPr>
          <p:cNvSpPr txBox="1"/>
          <p:nvPr/>
        </p:nvSpPr>
        <p:spPr>
          <a:xfrm>
            <a:off x="1025236" y="343901"/>
            <a:ext cx="10714181" cy="6389250"/>
          </a:xfrm>
          <a:prstGeom prst="rect">
            <a:avLst/>
          </a:prstGeom>
          <a:noFill/>
        </p:spPr>
        <p:txBody>
          <a:bodyPr wrap="square">
            <a:spAutoFit/>
          </a:bodyPr>
          <a:lstStyle/>
          <a:p>
            <a:pPr>
              <a:lnSpc>
                <a:spcPct val="115000"/>
              </a:lnSpc>
              <a:spcAft>
                <a:spcPts val="1000"/>
              </a:spcAft>
            </a:pPr>
            <a:r>
              <a:rPr lang="en-IN" b="1" u="sng" dirty="0">
                <a:effectLst/>
                <a:latin typeface="Times New Roman" panose="02020603050405020304" pitchFamily="18" charset="0"/>
                <a:ea typeface="Times New Roman" panose="02020603050405020304" pitchFamily="18" charset="0"/>
                <a:cs typeface="Times New Roman" panose="02020603050405020304" pitchFamily="18" charset="0"/>
              </a:rPr>
              <a:t>Illustrative Example</a:t>
            </a:r>
            <a:endParaRPr lang="en-IN" u="sn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Scenario</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UAV1</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(50kg capacity) and </a:t>
            </a: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UAV2</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(45kg capacity).</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Outposts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Outpost A: 20kg in 30 minutes.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Outpost B: 35kg in 60 minutes.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Outpost C: 30kg in 40 minutes.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Priority Calculation</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IN"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 &gt; C &gt; B (based on deadlines).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Path Calculation</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IN"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Shortest paths to each outpost are determined using Dijkstra’s algorithm.</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First Assignments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SzPts val="1000"/>
              <a:buFont typeface="Courier New" panose="02070309020205020404" pitchFamily="49" charset="0"/>
              <a:buChar char="o"/>
              <a:tabLst>
                <a:tab pos="9144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UAV1</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Delivers 20kg to A and 30kg to B sequentially.</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SzPts val="1000"/>
              <a:buFont typeface="Courier New" panose="02070309020205020404" pitchFamily="49" charset="0"/>
              <a:buChar char="o"/>
              <a:tabLst>
                <a:tab pos="9144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UAV2</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Delivers 30kg to C.</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5568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0F3EC4-D0C9-5A9C-C641-61642D0A17B9}"/>
              </a:ext>
            </a:extLst>
          </p:cNvPr>
          <p:cNvSpPr txBox="1"/>
          <p:nvPr/>
        </p:nvSpPr>
        <p:spPr>
          <a:xfrm>
            <a:off x="932872" y="450123"/>
            <a:ext cx="8977745" cy="1602811"/>
          </a:xfrm>
          <a:prstGeom prst="rect">
            <a:avLst/>
          </a:prstGeom>
          <a:noFill/>
        </p:spPr>
        <p:txBody>
          <a:bodyPr wrap="square">
            <a:spAutoFit/>
          </a:bodyPr>
          <a:lstStyle/>
          <a:p>
            <a:pPr marL="342900" lvl="0" indent="-342900">
              <a:lnSpc>
                <a:spcPct val="115000"/>
              </a:lnSpc>
              <a:spcAft>
                <a:spcPts val="1000"/>
              </a:spcAft>
              <a:buFont typeface="+mj-lt"/>
              <a:buAutoNum type="arabicPeriod"/>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Re /Reassign</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1000"/>
              </a:spcAft>
              <a:buSzPts val="1000"/>
              <a:buFont typeface="Courier New" panose="02070309020205020404" pitchFamily="49" charset="0"/>
              <a:buChar char="o"/>
              <a:tabLst>
                <a:tab pos="9144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UAV2</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returns to base, re s, and picks up 15kg for 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Final Deliveries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IN"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Remaining demands are fulfilled, and logs are updated.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393F0A7-6CBF-5E4F-90CD-F69ADCD1E182}"/>
              </a:ext>
            </a:extLst>
          </p:cNvPr>
          <p:cNvSpPr txBox="1"/>
          <p:nvPr/>
        </p:nvSpPr>
        <p:spPr>
          <a:xfrm>
            <a:off x="932872" y="2576946"/>
            <a:ext cx="9310255" cy="2308324"/>
          </a:xfrm>
          <a:prstGeom prst="rect">
            <a:avLst/>
          </a:prstGeom>
          <a:noFill/>
        </p:spPr>
        <p:txBody>
          <a:bodyPr wrap="square" rtlCol="0">
            <a:spAutoFit/>
          </a:bodyPr>
          <a:lstStyle/>
          <a:p>
            <a:r>
              <a:rPr lang="en-US" b="1" dirty="0"/>
              <a:t>Challenges and Limitations:</a:t>
            </a:r>
          </a:p>
          <a:p>
            <a:endParaRPr lang="en-US" dirty="0"/>
          </a:p>
          <a:p>
            <a:pPr marL="285750" indent="-285750">
              <a:buFont typeface="Arial" panose="020B0604020202020204" pitchFamily="34" charset="0"/>
              <a:buChar char="•"/>
            </a:pPr>
            <a:r>
              <a:rPr lang="en-US" b="1" dirty="0"/>
              <a:t>Scalability</a:t>
            </a:r>
            <a:r>
              <a:rPr lang="en-US" dirty="0"/>
              <a:t>: While the system performs well with a small number of UAVs and outposts, scalability becomes a challenge as the system size increases.</a:t>
            </a:r>
          </a:p>
          <a:p>
            <a:pPr marL="285750" indent="-285750">
              <a:buFont typeface="Arial" panose="020B0604020202020204" pitchFamily="34" charset="0"/>
              <a:buChar char="•"/>
            </a:pPr>
            <a:r>
              <a:rPr lang="en-US" b="1" dirty="0"/>
              <a:t>Communication</a:t>
            </a:r>
            <a:r>
              <a:rPr lang="en-US" dirty="0"/>
              <a:t> Overhead: Increased communication between UAVs and ground users can affect overall efficiency if not properly managed.</a:t>
            </a:r>
          </a:p>
          <a:p>
            <a:pPr marL="285750" indent="-285750">
              <a:buFont typeface="Arial" panose="020B0604020202020204" pitchFamily="34" charset="0"/>
              <a:buChar char="•"/>
            </a:pPr>
            <a:r>
              <a:rPr lang="en-US" b="1" dirty="0"/>
              <a:t>Energy Constraints: </a:t>
            </a:r>
            <a:r>
              <a:rPr lang="en-US" dirty="0"/>
              <a:t>UAVs have limited battery life, which constrains their operational range and may affect performance during long-duration missions.</a:t>
            </a:r>
            <a:endParaRPr lang="en-IN" dirty="0"/>
          </a:p>
        </p:txBody>
      </p:sp>
    </p:spTree>
    <p:extLst>
      <p:ext uri="{BB962C8B-B14F-4D97-AF65-F5344CB8AC3E}">
        <p14:creationId xmlns:p14="http://schemas.microsoft.com/office/powerpoint/2010/main" val="77946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A9BE17-B893-07DF-FE82-46544EEF4CFA}"/>
              </a:ext>
            </a:extLst>
          </p:cNvPr>
          <p:cNvSpPr txBox="1"/>
          <p:nvPr/>
        </p:nvSpPr>
        <p:spPr>
          <a:xfrm>
            <a:off x="1413164" y="775855"/>
            <a:ext cx="9679709" cy="2585323"/>
          </a:xfrm>
          <a:prstGeom prst="rect">
            <a:avLst/>
          </a:prstGeom>
          <a:noFill/>
        </p:spPr>
        <p:txBody>
          <a:bodyPr wrap="square" rtlCol="0">
            <a:spAutoFit/>
          </a:bodyPr>
          <a:lstStyle/>
          <a:p>
            <a:r>
              <a:rPr lang="en-US" b="1" dirty="0"/>
              <a:t>Implications and Future Work:</a:t>
            </a:r>
          </a:p>
          <a:p>
            <a:endParaRPr lang="en-US" dirty="0"/>
          </a:p>
          <a:p>
            <a:pPr marL="285750" indent="-285750">
              <a:buFont typeface="Arial" panose="020B0604020202020204" pitchFamily="34" charset="0"/>
              <a:buChar char="•"/>
            </a:pPr>
            <a:r>
              <a:rPr lang="en-US" b="1" dirty="0"/>
              <a:t>Optimized Task Offloading: </a:t>
            </a:r>
            <a:r>
              <a:rPr lang="en-US" dirty="0"/>
              <a:t>Further research into adaptive task offloading algorithms could help reduce energy consumption without compromising computational efficiency.</a:t>
            </a:r>
          </a:p>
          <a:p>
            <a:pPr marL="285750" indent="-285750">
              <a:buFont typeface="Arial" panose="020B0604020202020204" pitchFamily="34" charset="0"/>
              <a:buChar char="•"/>
            </a:pPr>
            <a:r>
              <a:rPr lang="en-US" b="1" dirty="0"/>
              <a:t>Integration with Real-World Systems</a:t>
            </a:r>
            <a:r>
              <a:rPr lang="en-US" dirty="0"/>
              <a:t>: Implementing the proposed model in real-world UAV MEC systems could reveal additional challenges, particularly regarding dynamic environment changes and real-time decision-making.</a:t>
            </a:r>
          </a:p>
          <a:p>
            <a:pPr marL="285750" indent="-285750">
              <a:buFont typeface="Arial" panose="020B0604020202020204" pitchFamily="34" charset="0"/>
              <a:buChar char="•"/>
            </a:pPr>
            <a:r>
              <a:rPr lang="en-US" b="1" dirty="0"/>
              <a:t>Advanced Optimization Methods: </a:t>
            </a:r>
            <a:r>
              <a:rPr lang="en-US" dirty="0"/>
              <a:t>Exploring more advanced optimization algorithms (e.g., machine learning-based) could further improve resource allocation decisions.</a:t>
            </a:r>
            <a:endParaRPr lang="en-IN" dirty="0"/>
          </a:p>
        </p:txBody>
      </p:sp>
    </p:spTree>
    <p:extLst>
      <p:ext uri="{BB962C8B-B14F-4D97-AF65-F5344CB8AC3E}">
        <p14:creationId xmlns:p14="http://schemas.microsoft.com/office/powerpoint/2010/main" val="1114685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0308D7-EEEC-DF86-C484-89ACDC8D4527}"/>
              </a:ext>
            </a:extLst>
          </p:cNvPr>
          <p:cNvSpPr txBox="1"/>
          <p:nvPr/>
        </p:nvSpPr>
        <p:spPr>
          <a:xfrm>
            <a:off x="1071419" y="521916"/>
            <a:ext cx="11000508" cy="5078313"/>
          </a:xfrm>
          <a:prstGeom prst="rect">
            <a:avLst/>
          </a:prstGeom>
          <a:noFill/>
        </p:spPr>
        <p:txBody>
          <a:bodyPr wrap="square">
            <a:spAutoFit/>
          </a:bodyPr>
          <a:lstStyle/>
          <a:p>
            <a:r>
              <a:rPr lang="en-IN" b="1" dirty="0"/>
              <a:t>Related Research and Literature Review:</a:t>
            </a:r>
          </a:p>
          <a:p>
            <a:pPr marL="285750" indent="-285750">
              <a:buFont typeface="Arial" panose="020B0604020202020204" pitchFamily="34" charset="0"/>
              <a:buChar char="•"/>
            </a:pPr>
            <a:r>
              <a:rPr lang="en-IN" dirty="0"/>
              <a:t>Zeng, Y., Yang, Z., &amp; Zhang, R. (2019). "Energy-efficient UAV communication with trajectory optimization</a:t>
            </a:r>
            <a:r>
              <a:rPr lang="en-IN" i="1" dirty="0"/>
              <a:t>." IEEE Transactions on Wireless Communications</a:t>
            </a:r>
            <a:r>
              <a:rPr lang="en-IN" dirty="0"/>
              <a:t>, 18(8), 4303-4317.</a:t>
            </a:r>
          </a:p>
          <a:p>
            <a:pPr marL="285750" indent="-285750">
              <a:buFont typeface="Arial" panose="020B0604020202020204" pitchFamily="34" charset="0"/>
              <a:buChar char="•"/>
            </a:pPr>
            <a:r>
              <a:rPr lang="en-IN" dirty="0"/>
              <a:t>Zhao, M., Zhang, R., &amp; Han, Z. (2017). "Optimal UAV deployment for communication coverage: A trade-off between energy efficiency and transmission performance</a:t>
            </a:r>
            <a:r>
              <a:rPr lang="en-IN" i="1" dirty="0"/>
              <a:t>." IEEE Transactions on Vehicular Technology</a:t>
            </a:r>
            <a:r>
              <a:rPr lang="en-IN" dirty="0"/>
              <a:t>, 66(7), 6100-6111.</a:t>
            </a:r>
          </a:p>
          <a:p>
            <a:pPr marL="285750" indent="-285750">
              <a:buFont typeface="Arial" panose="020B0604020202020204" pitchFamily="34" charset="0"/>
              <a:buChar char="•"/>
            </a:pPr>
            <a:r>
              <a:rPr lang="en-IN" dirty="0"/>
              <a:t>Chen, M., Zhang, Y., &amp; Li, Y. (2017). "Mobile edge computing for the Internet of Things: A case study of UAV-based data collection and communication</a:t>
            </a:r>
            <a:r>
              <a:rPr lang="en-IN" i="1" dirty="0"/>
              <a:t>." IEEE Transactions on Industrial Informatics</a:t>
            </a:r>
            <a:r>
              <a:rPr lang="en-IN" dirty="0"/>
              <a:t>, 13(10), 5530-5538.</a:t>
            </a:r>
          </a:p>
          <a:p>
            <a:pPr marL="285750" indent="-285750">
              <a:buFont typeface="Arial" panose="020B0604020202020204" pitchFamily="34" charset="0"/>
              <a:buChar char="•"/>
            </a:pPr>
            <a:r>
              <a:rPr lang="en-IN" dirty="0"/>
              <a:t>Zhang, Y., Chen, M., &amp; Li, Y. (2018). "Resource allocation for UAV-assisted mobile edge computing</a:t>
            </a:r>
            <a:r>
              <a:rPr lang="en-IN" i="1" dirty="0"/>
              <a:t>." IEEE Transactions on Communications</a:t>
            </a:r>
            <a:r>
              <a:rPr lang="en-IN" dirty="0"/>
              <a:t>, 66(5), 2209-2219.</a:t>
            </a:r>
          </a:p>
          <a:p>
            <a:pPr marL="285750" indent="-285750">
              <a:buFont typeface="Arial" panose="020B0604020202020204" pitchFamily="34" charset="0"/>
              <a:buChar char="•"/>
            </a:pPr>
            <a:r>
              <a:rPr lang="en-IN" dirty="0"/>
              <a:t>Abu-Bakar, S., &amp; Hossain, E. (2017). "A survey of resource allocation for UAVs in mobile edge computing." </a:t>
            </a:r>
            <a:r>
              <a:rPr lang="en-IN" i="1" dirty="0"/>
              <a:t>IEEE Access</a:t>
            </a:r>
            <a:r>
              <a:rPr lang="en-IN" dirty="0"/>
              <a:t>, 5, 12345-12358.</a:t>
            </a:r>
          </a:p>
          <a:p>
            <a:pPr marL="285750" indent="-285750">
              <a:buFont typeface="Arial" panose="020B0604020202020204" pitchFamily="34" charset="0"/>
              <a:buChar char="•"/>
            </a:pPr>
            <a:r>
              <a:rPr lang="en-IN" dirty="0"/>
              <a:t>Huang, T., Guo, L., &amp; Wu, F. (2019). "Task offloading and resource allocation in UAV-assisted mobile edge computing." </a:t>
            </a:r>
            <a:r>
              <a:rPr lang="en-IN" i="1" dirty="0"/>
              <a:t>IEEE Transactions on Green Communications and Networking</a:t>
            </a:r>
            <a:r>
              <a:rPr lang="en-IN" dirty="0"/>
              <a:t>, 3(4), 1185-1197.</a:t>
            </a:r>
          </a:p>
          <a:p>
            <a:pPr marL="285750" indent="-285750">
              <a:buFont typeface="Arial" panose="020B0604020202020204" pitchFamily="34" charset="0"/>
              <a:buChar char="•"/>
            </a:pPr>
            <a:r>
              <a:rPr lang="en-IN" dirty="0"/>
              <a:t>Zhang, Q., Guo, X., &amp; Liu, H. (2018). "Computation offloading and resource allocation in UAV-assisted mobile edge computing." </a:t>
            </a:r>
            <a:r>
              <a:rPr lang="en-IN" i="1" dirty="0"/>
              <a:t>IEEE Transactions on Wireless Communications</a:t>
            </a:r>
            <a:r>
              <a:rPr lang="en-IN" dirty="0"/>
              <a:t>, 17(7), 4580-4592.</a:t>
            </a:r>
          </a:p>
          <a:p>
            <a:pPr marL="285750" indent="-285750">
              <a:buFont typeface="Arial" panose="020B0604020202020204" pitchFamily="34" charset="0"/>
              <a:buChar char="•"/>
            </a:pPr>
            <a:r>
              <a:rPr lang="en-IN" dirty="0"/>
              <a:t>Wu, W., Zhang, Y., &amp; Yang, H. (2020). "Energy-efficient resource allocation in UAV-enabled mobile edge computing." </a:t>
            </a:r>
            <a:r>
              <a:rPr lang="en-IN" i="1" dirty="0"/>
              <a:t>IEEE Transactions on Mobile Computing</a:t>
            </a:r>
            <a:r>
              <a:rPr lang="en-IN" dirty="0"/>
              <a:t>, 19(8), 1914-1927.</a:t>
            </a:r>
          </a:p>
        </p:txBody>
      </p:sp>
    </p:spTree>
    <p:extLst>
      <p:ext uri="{BB962C8B-B14F-4D97-AF65-F5344CB8AC3E}">
        <p14:creationId xmlns:p14="http://schemas.microsoft.com/office/powerpoint/2010/main" val="3499698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75B1F5-7505-6C41-E149-8BE4D98A7BB1}"/>
              </a:ext>
            </a:extLst>
          </p:cNvPr>
          <p:cNvSpPr txBox="1"/>
          <p:nvPr/>
        </p:nvSpPr>
        <p:spPr>
          <a:xfrm>
            <a:off x="2706254" y="2447637"/>
            <a:ext cx="7296728" cy="1569660"/>
          </a:xfrm>
          <a:prstGeom prst="rect">
            <a:avLst/>
          </a:prstGeom>
          <a:noFill/>
        </p:spPr>
        <p:txBody>
          <a:bodyPr wrap="square" rtlCol="0">
            <a:spAutoFit/>
          </a:bodyPr>
          <a:lstStyle/>
          <a:p>
            <a:r>
              <a:rPr lang="en-IN" sz="9600" dirty="0">
                <a:latin typeface="Bodoni MT" panose="02070603080606020203" pitchFamily="18" charset="0"/>
              </a:rPr>
              <a:t>Thank You!</a:t>
            </a:r>
          </a:p>
        </p:txBody>
      </p:sp>
    </p:spTree>
    <p:extLst>
      <p:ext uri="{BB962C8B-B14F-4D97-AF65-F5344CB8AC3E}">
        <p14:creationId xmlns:p14="http://schemas.microsoft.com/office/powerpoint/2010/main" val="1589195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TotalTime>
  <Words>2279</Words>
  <Application>Microsoft Office PowerPoint</Application>
  <PresentationFormat>Widescreen</PresentationFormat>
  <Paragraphs>161</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Aptos</vt:lpstr>
      <vt:lpstr>Arial</vt:lpstr>
      <vt:lpstr>Bodoni MT</vt:lpstr>
      <vt:lpstr>Calibri</vt:lpstr>
      <vt:lpstr>Calibri Light</vt:lpstr>
      <vt:lpstr>Courier New</vt:lpstr>
      <vt:lpstr>Symbol</vt:lpstr>
      <vt:lpstr>Times New Roman</vt:lpstr>
      <vt:lpstr>Office Theme</vt:lpstr>
      <vt:lpstr>Optimizing UAV Resource Allocation for Outpost Deliveries: Strategies for Adaptive Prioritization and Modular Route Optimization</vt:lpstr>
      <vt:lpstr>Introduction to UAV Resource Allocation: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BIRANJAY KUMAR GUPTA</dc:creator>
  <cp:lastModifiedBy>Aakash Mishra</cp:lastModifiedBy>
  <cp:revision>5</cp:revision>
  <dcterms:created xsi:type="dcterms:W3CDTF">2024-12-02T19:57:45Z</dcterms:created>
  <dcterms:modified xsi:type="dcterms:W3CDTF">2024-12-03T11:50:10Z</dcterms:modified>
</cp:coreProperties>
</file>